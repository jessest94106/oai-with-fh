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40280"/>
            <a:ext cx="12191695" cy="24231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OAI O-RAN 7.2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6424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A Demo of End-to-End Emulation</a:t>
            </a:r>
          </a:p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and IQ Compression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0" i="0">
                <a:solidFill>
                  <a:srgbClr val="BDD7EE"/>
                </a:solidFill>
                <a:latin typeface="Calibri"/>
              </a:rPr>
              <a:t>Single-host DU + O-RU + UE over real DPDK fronthaul — a platform to observe system trade-offs:</a:t>
            </a:r>
          </a:p>
          <a:p>
            <a:pPr algn="ctr"/>
            <a:r>
              <a:rPr sz="1500" b="0" i="0">
                <a:solidFill>
                  <a:srgbClr val="BDD7EE"/>
                </a:solidFill>
                <a:latin typeface="Calibri"/>
              </a:rPr>
              <a:t>UL throughput · fronthaul load · latency · PRB / bandwidth · SNR · mobility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D9D9D9"/>
                </a:solidFill>
                <a:latin typeface="Calibri"/>
              </a:rPr>
              <a:t>Jesse   ·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System Overview in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One host runs the whole 5G chain — real DPDK fronthaul, emulated radio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2194560" cy="804672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19456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DU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nr-softmodem (PHY/MAC)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21945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 i="1">
                <a:solidFill>
                  <a:srgbClr val="1F3964"/>
                </a:solidFill>
                <a:latin typeface="Calibri"/>
              </a:rPr>
              <a:t>24 PRB · µ1 30 kHz · n77 4.05 GHz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34440"/>
            <a:ext cx="2194560" cy="8046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234440"/>
            <a:ext cx="219456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O-RU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nr-oru (RU PHY)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57400"/>
            <a:ext cx="21945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 i="1">
                <a:solidFill>
                  <a:srgbClr val="1F3964"/>
                </a:solidFill>
                <a:latin typeface="Calibri"/>
              </a:rPr>
              <a:t>O-RAN 7.2 split · IQ compression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34440"/>
            <a:ext cx="2194560" cy="804672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34440"/>
            <a:ext cx="2194560" cy="8046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UE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nr-uesoftmodem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057400"/>
            <a:ext cx="21945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 i="1">
                <a:solidFill>
                  <a:srgbClr val="1F3964"/>
                </a:solidFill>
                <a:latin typeface="Calibri"/>
              </a:rPr>
              <a:t>1 UE · oaitun_ue1 · 10.0.0.x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600200"/>
            <a:ext cx="164592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234440"/>
            <a:ext cx="164592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1F3964"/>
                </a:solidFill>
                <a:latin typeface="Calibri"/>
              </a:rPr>
              <a:t>O-RAN 7.2 FH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1655064"/>
            <a:ext cx="164592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1">
                <a:solidFill>
                  <a:srgbClr val="2E75B6"/>
                </a:solidFill>
                <a:latin typeface="Calibri"/>
              </a:rPr>
              <a:t>eCPRI · DPDK SR-IOV</a:t>
            </a:r>
          </a:p>
          <a:p>
            <a:pPr algn="ctr"/>
            <a:r>
              <a:rPr sz="900" b="0" i="1">
                <a:solidFill>
                  <a:srgbClr val="2E75B6"/>
                </a:solidFill>
                <a:latin typeface="Calibri"/>
              </a:rPr>
              <a:t>VF0/1↑  VF2/3↓ · VLAN 3/4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600200"/>
            <a:ext cx="164592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234440"/>
            <a:ext cx="164592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1F3964"/>
                </a:solidFill>
                <a:latin typeface="Calibri"/>
              </a:rPr>
              <a:t>vrtsim 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655064"/>
            <a:ext cx="164592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1">
                <a:solidFill>
                  <a:srgbClr val="2E75B6"/>
                </a:solidFill>
                <a:latin typeface="Calibri"/>
              </a:rPr>
              <a:t>shared memory · IQ</a:t>
            </a:r>
          </a:p>
          <a:p>
            <a:pPr algn="ctr"/>
            <a:r>
              <a:rPr sz="900" b="0" i="1">
                <a:solidFill>
                  <a:srgbClr val="2E75B6"/>
                </a:solidFill>
                <a:latin typeface="Calibri"/>
              </a:rPr>
              <a:t>TDL fading · AGC SNR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40864"/>
            <a:ext cx="21945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0">
                <a:solidFill>
                  <a:srgbClr val="1F3964"/>
                </a:solidFill>
                <a:latin typeface="Calibri"/>
              </a:rPr>
              <a:t>↕  NGAP / GTP-U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15184"/>
            <a:ext cx="2194560" cy="749808"/>
          </a:xfrm>
          <a:prstGeom prst="rect">
            <a:avLst/>
          </a:prstGeom>
          <a:solidFill>
            <a:srgbClr val="105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615184"/>
            <a:ext cx="21945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OAI 5GC (docker)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AMF · SMF · UPF · NRF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340864"/>
            <a:ext cx="219456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0">
                <a:solidFill>
                  <a:srgbClr val="1F3964"/>
                </a:solidFill>
                <a:latin typeface="Calibri"/>
              </a:rPr>
              <a:t>↕  iperf3 client (UE) -c 10.0.0.1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615184"/>
            <a:ext cx="2194560" cy="749808"/>
          </a:xfrm>
          <a:prstGeom prst="rect">
            <a:avLst/>
          </a:prstGeom>
          <a:solidFill>
            <a:srgbClr val="104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2615184"/>
            <a:ext cx="21945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UL received here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(iperf3 server @ 5GC/UPF)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615184"/>
            <a:ext cx="2194560" cy="7498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00" b="0" i="1">
                <a:solidFill>
                  <a:srgbClr val="2E75B6"/>
                </a:solidFill>
                <a:latin typeface="Calibri"/>
              </a:rPr>
              <a:t>real-time channel</a:t>
            </a:r>
          </a:p>
          <a:p>
            <a:pPr algn="ctr"/>
            <a:r>
              <a:rPr sz="1000" b="0" i="1">
                <a:solidFill>
                  <a:srgbClr val="2E75B6"/>
                </a:solidFill>
                <a:latin typeface="Calibri"/>
              </a:rPr>
              <a:t>emulation (CPU)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93008"/>
            <a:ext cx="11247120" cy="29260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493008"/>
            <a:ext cx="11247120" cy="29260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050" b="0" i="0">
                <a:solidFill>
                  <a:srgbClr val="1F3964"/>
                </a:solidFill>
                <a:latin typeface="Calibri"/>
              </a:rPr>
              <a:t>NIC: Intel X710 (i40e) · 5 SR-IOV VFs · VF↔VF loopback (embedded VEB switch, no cable)   |   Fronthaul = real eCPRI packets over DPDK   |   Air = vrtsim shared-memory IQ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58768"/>
            <a:ext cx="1124712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858768"/>
            <a:ext cx="112471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What we can sweep / evaluate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14800"/>
            <a:ext cx="3931920" cy="283464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114800"/>
            <a:ext cx="3931920" cy="2834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Parameter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4114800"/>
            <a:ext cx="7315200" cy="283464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4114800"/>
            <a:ext cx="7315200" cy="2834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What it controls in the demo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398264"/>
            <a:ext cx="3931920" cy="28346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398264"/>
            <a:ext cx="3931920" cy="2834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IQ width  (8 / 9 / 12 / 16)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4398264"/>
            <a:ext cx="7315200" cy="28346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4398264"/>
            <a:ext cx="7315200" cy="2834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Fronthaul byte load (IQ compression)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681728"/>
            <a:ext cx="3931920" cy="28346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681728"/>
            <a:ext cx="3931920" cy="2834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RX target SNR (dB)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4681728"/>
            <a:ext cx="7315200" cy="28346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4681728"/>
            <a:ext cx="7315200" cy="2834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Radio link quality (time-domain AGC)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965192"/>
            <a:ext cx="3931920" cy="28346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965192"/>
            <a:ext cx="3931920" cy="2834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Antennas  (1×1 → 4×4)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4965192"/>
            <a:ext cx="7315200" cy="28346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0" y="4965192"/>
            <a:ext cx="7315200" cy="2834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MIMO layers &amp; fronthaul load multiplier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248656"/>
            <a:ext cx="3931920" cy="28346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248656"/>
            <a:ext cx="3931920" cy="2834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FH delivery window (µs)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5248656"/>
            <a:ext cx="7315200" cy="28346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0" y="5248656"/>
            <a:ext cx="7315200" cy="2834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Fronthaul timing / latency budget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532120"/>
            <a:ext cx="3931920" cy="28346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532120"/>
            <a:ext cx="3931920" cy="2834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Mobility (channel time-var.)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89120" y="5532120"/>
            <a:ext cx="7315200" cy="28346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0" y="5532120"/>
            <a:ext cx="7315200" cy="2834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Time-varying fading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815584"/>
            <a:ext cx="3931920" cy="28346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815584"/>
            <a:ext cx="3931920" cy="2834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Bandwidth (PRB)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89120" y="5815584"/>
            <a:ext cx="7315200" cy="28346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0" y="5815584"/>
            <a:ext cx="7315200" cy="2834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Cell bandwidth, 10 – 100 MHz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6163056"/>
            <a:ext cx="11247120" cy="365760"/>
          </a:xfrm>
          <a:prstGeom prst="rect">
            <a:avLst/>
          </a:prstGeom>
          <a:solidFill>
            <a:srgbClr val="FFF2CC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6208776"/>
            <a:ext cx="110642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1F3964"/>
                </a:solidFill>
                <a:latin typeface="Calibri"/>
              </a:rPr>
              <a:t>UL throughput = traffic RECEIVED at the 5GC (UPF), where the iperf3 server runs — the real goodput, not the UE's send rate (which over-reports, since the UE drops excess at the TUN).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Baseline: 10 MHz Radio Bandwidth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The reference operating point — each later slide varies ONE knob and watches the trend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Measured — 1×1, 24 PRB µ1, ideal channel  (UL received at 5GC/UPF, iperf3 UDP)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377440" cy="411480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23774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Config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508760"/>
            <a:ext cx="1280160" cy="411480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508760"/>
            <a:ext cx="12801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508760"/>
            <a:ext cx="2468880" cy="411480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508760"/>
            <a:ext cx="24688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FH total Mbps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508760"/>
            <a:ext cx="2194560" cy="411480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08760"/>
            <a:ext cx="21945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UL Mbps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508760"/>
            <a:ext cx="1737360" cy="411480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508760"/>
            <a:ext cx="17373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Jitter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24160" y="1508760"/>
            <a:ext cx="1371600" cy="411480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1508760"/>
            <a:ext cx="13716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UL loss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920240"/>
            <a:ext cx="237744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920240"/>
            <a:ext cx="23774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1×1 ideal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1920240"/>
            <a:ext cx="128016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1920240"/>
            <a:ext cx="12801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1920240"/>
            <a:ext cx="246888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1920240"/>
            <a:ext cx="24688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150.8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1920240"/>
            <a:ext cx="219456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920240"/>
            <a:ext cx="21945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4.995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1920240"/>
            <a:ext cx="173736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1920240"/>
            <a:ext cx="17373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1.83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24160" y="1920240"/>
            <a:ext cx="137160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0" y="1920240"/>
            <a:ext cx="13716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0.00%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331720"/>
            <a:ext cx="2377440" cy="41148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31720"/>
            <a:ext cx="23774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1×1 ideal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2331720"/>
            <a:ext cx="1280160" cy="41148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2331720"/>
            <a:ext cx="12801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0" y="2331720"/>
            <a:ext cx="2468880" cy="41148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0" y="2331720"/>
            <a:ext cx="24688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150.8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2331720"/>
            <a:ext cx="2194560" cy="41148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2331720"/>
            <a:ext cx="21945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5.004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2331720"/>
            <a:ext cx="1737360" cy="41148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2331720"/>
            <a:ext cx="17373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24160" y="2331720"/>
            <a:ext cx="1371600" cy="41148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24160" y="2331720"/>
            <a:ext cx="13716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743200"/>
            <a:ext cx="237744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2743200"/>
            <a:ext cx="23774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1×1 ideal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2743200"/>
            <a:ext cx="128016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0" y="2743200"/>
            <a:ext cx="12801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23360" y="2743200"/>
            <a:ext cx="246888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3360" y="2743200"/>
            <a:ext cx="246888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254.0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2743200"/>
            <a:ext cx="219456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2743200"/>
            <a:ext cx="21945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5.006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86800" y="2743200"/>
            <a:ext cx="173736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0" y="2743200"/>
            <a:ext cx="173736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24160" y="2743200"/>
            <a:ext cx="1371600" cy="411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24160" y="2743200"/>
            <a:ext cx="13716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200400"/>
            <a:ext cx="2194560" cy="1143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3273552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Calibri"/>
              </a:rPr>
              <a:t>UL throughput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3611880"/>
            <a:ext cx="219456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~5.0 Mbps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79192" y="3200400"/>
            <a:ext cx="2194560" cy="1143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79192" y="3273552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Calibri"/>
              </a:rPr>
              <a:t>UL loss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79192" y="3611880"/>
            <a:ext cx="219456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0.00 %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92624" y="3200400"/>
            <a:ext cx="2194560" cy="1143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92624" y="3273552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Calibri"/>
              </a:rPr>
              <a:t>Jitter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92624" y="3611880"/>
            <a:ext cx="219456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~1.8 ms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06056" y="3200400"/>
            <a:ext cx="2194560" cy="1143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06056" y="3273552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Calibri"/>
              </a:rPr>
              <a:t>UL symbols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06056" y="3611880"/>
            <a:ext cx="219456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100 %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19488" y="3200400"/>
            <a:ext cx="2194560" cy="1143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19488" y="3273552"/>
            <a:ext cx="21945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Calibri"/>
              </a:rPr>
              <a:t>FH load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19488" y="3611880"/>
            <a:ext cx="219456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150 / 254</a:t>
            </a:r>
          </a:p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Mbps (iq9/16)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4617720"/>
            <a:ext cx="11430000" cy="868680"/>
          </a:xfrm>
          <a:prstGeom prst="rect">
            <a:avLst/>
          </a:prstGeom>
          <a:solidFill>
            <a:srgbClr val="E2EFDA"/>
          </a:solidFill>
          <a:ln w="9525">
            <a:solidFill>
              <a:srgbClr val="378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4663440"/>
            <a:ext cx="112471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50" b="0" i="0">
                <a:solidFill>
                  <a:srgbClr val="1F3964"/>
                </a:solidFill>
                <a:latin typeface="Calibri"/>
              </a:rPr>
              <a:t>This is the reference point.  From here, each evaluation changes one parameter — IQ compression, SNR, MIMO, fronthaul latency, mobility, bandwidth — and we read the TREND in UL throughput, fronthaul load, latency and resource use.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5623560"/>
            <a:ext cx="11430000" cy="45720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964"/>
                </a:solidFill>
                <a:latin typeface="Calibri"/>
              </a:rPr>
              <a:t>The point of the demo is not 'it works' — it is that one host lets us sweep these knobs and SEE the trade-offs.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Evaluation 1 — IQ Compression vs Fronthaul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Sweep IQ width 8→16 in one bringup  ·  what does compression buy us?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676656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67665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Measured (single sweep, 1×1 ideal channel)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468880" cy="420624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246888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IQ width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508760"/>
            <a:ext cx="1737360" cy="420624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508760"/>
            <a:ext cx="173736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FH total Mbps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508760"/>
            <a:ext cx="1371600" cy="420624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08760"/>
            <a:ext cx="13716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UL Mbps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508760"/>
            <a:ext cx="1188720" cy="420624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1508760"/>
            <a:ext cx="118872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UL loss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9384"/>
            <a:ext cx="24688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929384"/>
            <a:ext cx="246888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8  (most compressed)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1929384"/>
            <a:ext cx="173736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1929384"/>
            <a:ext cx="173736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135.2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929384"/>
            <a:ext cx="137160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929384"/>
            <a:ext cx="13716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4.999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929384"/>
            <a:ext cx="118872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1929384"/>
            <a:ext cx="118872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0.00%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350008"/>
            <a:ext cx="2468880" cy="42062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350008"/>
            <a:ext cx="246888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9  (BFP default)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2350008"/>
            <a:ext cx="1737360" cy="42062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2350008"/>
            <a:ext cx="173736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150.8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350008"/>
            <a:ext cx="1371600" cy="42062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2350008"/>
            <a:ext cx="13716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4.999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350008"/>
            <a:ext cx="1188720" cy="42062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2350008"/>
            <a:ext cx="118872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0.00%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770632"/>
            <a:ext cx="24688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770632"/>
            <a:ext cx="246888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2770632"/>
            <a:ext cx="173736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2770632"/>
            <a:ext cx="173736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197.4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2770632"/>
            <a:ext cx="137160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2770632"/>
            <a:ext cx="13716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5.001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2770632"/>
            <a:ext cx="118872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2770632"/>
            <a:ext cx="118872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0.00%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191256"/>
            <a:ext cx="2468880" cy="42062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191256"/>
            <a:ext cx="246888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16 (uncompressed)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40" y="3191256"/>
            <a:ext cx="1737360" cy="42062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0" y="3191256"/>
            <a:ext cx="173736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254.0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191256"/>
            <a:ext cx="1371600" cy="42062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3191256"/>
            <a:ext cx="13716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5.001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3191256"/>
            <a:ext cx="1188720" cy="42062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0" y="3191256"/>
            <a:ext cx="118872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0.00%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611880"/>
            <a:ext cx="676656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611880"/>
            <a:ext cx="67665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Fronthaul load (bars) vs UL throughput (line)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943599"/>
            <a:ext cx="6400800" cy="18288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3959351"/>
            <a:ext cx="12801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1">
                <a:solidFill>
                  <a:srgbClr val="202020"/>
                </a:solidFill>
                <a:latin typeface="Calibri"/>
              </a:rPr>
              <a:t>FH Mbps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7250" y="5104702"/>
            <a:ext cx="800100" cy="8388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0090" y="4885246"/>
            <a:ext cx="10744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2E75B6"/>
                </a:solidFill>
                <a:latin typeface="Calibri"/>
              </a:rPr>
              <a:t>135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971031"/>
            <a:ext cx="16002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alibri"/>
              </a:rPr>
              <a:t>iq8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57450" y="5007906"/>
            <a:ext cx="800100" cy="93569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20290" y="4788450"/>
            <a:ext cx="10744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2E75B6"/>
                </a:solidFill>
                <a:latin typeface="Calibri"/>
              </a:rPr>
              <a:t>151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5971031"/>
            <a:ext cx="16002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alibri"/>
              </a:rPr>
              <a:t>iq9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57650" y="4718760"/>
            <a:ext cx="800100" cy="122483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20490" y="4499304"/>
            <a:ext cx="10744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2E75B6"/>
                </a:solidFill>
                <a:latin typeface="Calibri"/>
              </a:rPr>
              <a:t>197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0" y="5971031"/>
            <a:ext cx="16002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alibri"/>
              </a:rPr>
              <a:t>iq12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57850" y="4367565"/>
            <a:ext cx="800100" cy="1576033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20690" y="4148109"/>
            <a:ext cx="107442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2E75B6"/>
                </a:solidFill>
                <a:latin typeface="Calibri"/>
              </a:rPr>
              <a:t>254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57800" y="5971031"/>
            <a:ext cx="16002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alibri"/>
              </a:rPr>
              <a:t>iq16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257300.0" y="4495799.0"/>
            <a:ext cx="1600200.0" cy="0.0"/>
          </a:xfrm>
          <a:prstGeom prst="bentConnector3">
            <a:avLst/>
          </a:prstGeom>
          <a:ln w="28575">
            <a:solidFill>
              <a:srgbClr val="3786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857500.0" y="4495799.0"/>
            <a:ext cx="1600200.0" cy="0.0"/>
          </a:xfrm>
          <a:prstGeom prst="bentConnector3">
            <a:avLst/>
          </a:prstGeom>
          <a:ln w="28575">
            <a:solidFill>
              <a:srgbClr val="3786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457700.0" y="4495799.0"/>
            <a:ext cx="1600200.0" cy="0.0"/>
          </a:xfrm>
          <a:prstGeom prst="bentConnector3">
            <a:avLst/>
          </a:prstGeom>
          <a:ln w="28575">
            <a:solidFill>
              <a:srgbClr val="3786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1211580" y="4450079"/>
            <a:ext cx="91440" cy="91440"/>
          </a:xfrm>
          <a:prstGeom prst="rect">
            <a:avLst/>
          </a:prstGeom>
          <a:solidFill>
            <a:srgbClr val="378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811780" y="4450079"/>
            <a:ext cx="91440" cy="91440"/>
          </a:xfrm>
          <a:prstGeom prst="rect">
            <a:avLst/>
          </a:prstGeom>
          <a:solidFill>
            <a:srgbClr val="378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411980" y="4450079"/>
            <a:ext cx="91440" cy="91440"/>
          </a:xfrm>
          <a:prstGeom prst="rect">
            <a:avLst/>
          </a:prstGeom>
          <a:solidFill>
            <a:srgbClr val="378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12180" y="4450079"/>
            <a:ext cx="91440" cy="91440"/>
          </a:xfrm>
          <a:prstGeom prst="rect">
            <a:avLst/>
          </a:prstGeom>
          <a:solidFill>
            <a:srgbClr val="378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3959351"/>
            <a:ext cx="640080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1" i="0">
                <a:solidFill>
                  <a:srgbClr val="378644"/>
                </a:solidFill>
                <a:latin typeface="Calibri"/>
              </a:rPr>
              <a:t>UL ~5.0 Mbps — flat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06640" y="1508760"/>
            <a:ext cx="4389120" cy="1371600"/>
          </a:xfrm>
          <a:prstGeom prst="rect">
            <a:avLst/>
          </a:prstGeom>
          <a:solidFill>
            <a:srgbClr val="E2EFDA"/>
          </a:solidFill>
          <a:ln w="9525">
            <a:solidFill>
              <a:srgbClr val="378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98080" y="1554480"/>
            <a:ext cx="4206240" cy="12801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50" b="0" i="0">
                <a:solidFill>
                  <a:srgbClr val="1F3964"/>
                </a:solidFill>
                <a:latin typeface="Calibri"/>
              </a:rPr>
              <a:t>FINDING</a:t>
            </a:r>
          </a:p>
          <a:p>
            <a:pPr algn="l"/>
            <a:r>
              <a:rPr sz="1350" b="0" i="0">
                <a:solidFill>
                  <a:srgbClr val="1F3964"/>
                </a:solidFill>
                <a:latin typeface="Calibri"/>
              </a:rPr>
              <a:t>Compressing IQ from 16→8 bits cuts fronthaul load 47%</a:t>
            </a:r>
          </a:p>
          <a:p>
            <a:pPr algn="l"/>
            <a:r>
              <a:rPr sz="1350" b="0" i="0">
                <a:solidFill>
                  <a:srgbClr val="1F3964"/>
                </a:solidFill>
                <a:latin typeface="Calibri"/>
              </a:rPr>
              <a:t>(254 → 135 Mbps) with NO loss of UL throughput or quality.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06640" y="3017520"/>
            <a:ext cx="4389120" cy="132588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98080" y="3063240"/>
            <a:ext cx="4206240" cy="12344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964"/>
                </a:solidFill>
                <a:latin typeface="Calibri"/>
              </a:rPr>
              <a:t>Why UL stays flat:</a:t>
            </a:r>
          </a:p>
          <a:p>
            <a:pPr algn="l"/>
            <a:r>
              <a:rPr sz="1250" b="0" i="0">
                <a:solidFill>
                  <a:srgbClr val="1F3964"/>
                </a:solidFill>
                <a:latin typeface="Calibri"/>
              </a:rPr>
              <a:t>the fronthaul link here has huge spare capacity (uses &lt;5%), so saving FH bytes does not change the air throughput.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406640" y="4480560"/>
            <a:ext cx="4389120" cy="1234440"/>
          </a:xfrm>
          <a:prstGeom prst="rect">
            <a:avLst/>
          </a:prstGeom>
          <a:solidFill>
            <a:srgbClr val="FFF2CC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98080" y="4526280"/>
            <a:ext cx="4206240" cy="1143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964"/>
                </a:solidFill>
                <a:latin typeface="Calibri"/>
              </a:rPr>
              <a:t>To expose a compression-vs-quality trade-off, constrain the FH pipe (Eval 4) or raise the load with MIMO / wider BW (Eval 3 &amp; 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Evaluation 2 — Link Quality (SNR) vs UL Throughput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Axis is TIME-DOMAIN RX SNR (the real channel SNR) injected by the vrtsim AGC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420624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42062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Time-domain SNR — AGC-controlled (validated)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1371600" cy="384048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81328"/>
            <a:ext cx="13716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TD SNR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481328"/>
            <a:ext cx="1463040" cy="384048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481328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UL Mbps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81328"/>
            <a:ext cx="1371600" cy="384048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481328"/>
            <a:ext cx="13716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Jitter 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865376"/>
            <a:ext cx="137160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865376"/>
            <a:ext cx="13716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20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1865376"/>
            <a:ext cx="146304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1865376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4.995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865376"/>
            <a:ext cx="137160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1865376"/>
            <a:ext cx="13716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1.83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49424"/>
            <a:ext cx="1371600" cy="384048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249424"/>
            <a:ext cx="13716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8 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7360" y="2249424"/>
            <a:ext cx="1463040" cy="384048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2249424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2.148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249424"/>
            <a:ext cx="1371600" cy="384048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2249424"/>
            <a:ext cx="13716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4.92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743200"/>
            <a:ext cx="420624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743200"/>
            <a:ext cx="420624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Channel-model runs (ULSCH → time-domain)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035808"/>
            <a:ext cx="1463040" cy="301752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035808"/>
            <a:ext cx="146304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ULSCH dB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3035808"/>
            <a:ext cx="1280160" cy="301752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3035808"/>
            <a:ext cx="128016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TD 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035808"/>
            <a:ext cx="1463040" cy="301752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3035808"/>
            <a:ext cx="146304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UL Mbps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337560"/>
            <a:ext cx="1463040" cy="30175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337560"/>
            <a:ext cx="146304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32.8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0" y="3337560"/>
            <a:ext cx="1280160" cy="30175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0" y="3337560"/>
            <a:ext cx="128016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~16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3337560"/>
            <a:ext cx="1463040" cy="30175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3337560"/>
            <a:ext cx="146304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2.67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639312"/>
            <a:ext cx="1463040" cy="301752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39312"/>
            <a:ext cx="146304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33.0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0" y="3639312"/>
            <a:ext cx="1280160" cy="301752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0" y="3639312"/>
            <a:ext cx="128016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~16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3639312"/>
            <a:ext cx="1463040" cy="301752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3639312"/>
            <a:ext cx="146304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2.83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941064"/>
            <a:ext cx="1463040" cy="30175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941064"/>
            <a:ext cx="146304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35.9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0" y="3941064"/>
            <a:ext cx="1280160" cy="30175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0" y="3941064"/>
            <a:ext cx="128016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~19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08960" y="3941064"/>
            <a:ext cx="1463040" cy="30175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08960" y="3941064"/>
            <a:ext cx="146304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3.57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4242816"/>
            <a:ext cx="1463040" cy="301752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242816"/>
            <a:ext cx="146304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39.2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0" y="4242816"/>
            <a:ext cx="1280160" cy="301752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28800" y="4242816"/>
            <a:ext cx="128016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~22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60" y="4242816"/>
            <a:ext cx="1463040" cy="301752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08960" y="4242816"/>
            <a:ext cx="146304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4.96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544568"/>
            <a:ext cx="1463040" cy="30175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4544568"/>
            <a:ext cx="146304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42.3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28800" y="4544568"/>
            <a:ext cx="1280160" cy="30175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828800" y="4544568"/>
            <a:ext cx="128016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~25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08960" y="4544568"/>
            <a:ext cx="1463040" cy="30175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0" y="4544568"/>
            <a:ext cx="146304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4.98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846320"/>
            <a:ext cx="1463040" cy="301752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4846320"/>
            <a:ext cx="146304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46.3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28800" y="4846320"/>
            <a:ext cx="1280160" cy="301752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28800" y="4846320"/>
            <a:ext cx="128016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~29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08960" y="4846320"/>
            <a:ext cx="1463040" cy="301752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08960" y="4846320"/>
            <a:ext cx="1463040" cy="3017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4.98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37760" y="1554480"/>
            <a:ext cx="6766560" cy="30632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937760" y="4599432"/>
            <a:ext cx="6766560" cy="18288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937760" y="1554480"/>
            <a:ext cx="18288" cy="3063240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07946" y="4636008"/>
            <a:ext cx="365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202020"/>
                </a:solidFill>
                <a:latin typeface="Calibri"/>
              </a:rPr>
              <a:t>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61013" y="4636008"/>
            <a:ext cx="365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202020"/>
                </a:solidFill>
                <a:latin typeface="Calibri"/>
              </a:rPr>
              <a:t>15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14080" y="4636008"/>
            <a:ext cx="365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202020"/>
                </a:solidFill>
                <a:latin typeface="Calibri"/>
              </a:rPr>
              <a:t>20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67146" y="4636008"/>
            <a:ext cx="365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202020"/>
                </a:solidFill>
                <a:latin typeface="Calibri"/>
              </a:rPr>
              <a:t>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20213" y="4636008"/>
            <a:ext cx="3657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202020"/>
                </a:solidFill>
                <a:latin typeface="Calibri"/>
              </a:rPr>
              <a:t>30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5152" y="4006596"/>
            <a:ext cx="256032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45152" y="3496056"/>
            <a:ext cx="256032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202020"/>
                </a:solidFill>
                <a:latin typeface="Calibri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45152" y="2985516"/>
            <a:ext cx="256032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202020"/>
                </a:solidFill>
                <a:latin typeface="Calibri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45152" y="2474976"/>
            <a:ext cx="256032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202020"/>
                </a:solidFill>
                <a:latin typeface="Calibri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45152" y="1964436"/>
            <a:ext cx="256032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 i="0">
                <a:solidFill>
                  <a:srgbClr val="202020"/>
                </a:solidFill>
                <a:latin typeface="Calibri"/>
              </a:rPr>
              <a:t>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23760" y="4837176"/>
            <a:ext cx="219456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alibri"/>
              </a:rPr>
              <a:t>Time-domain RX SNR (dB)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70832" y="2857500"/>
            <a:ext cx="457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alibri"/>
              </a:rPr>
              <a:t>UL</a:t>
            </a:r>
          </a:p>
          <a:p>
            <a:pPr algn="ctr"/>
            <a:r>
              <a:rPr sz="1100" b="0" i="0">
                <a:solidFill>
                  <a:srgbClr val="202020"/>
                </a:solidFill>
                <a:latin typeface="Calibri"/>
              </a:rPr>
              <a:t>Mbps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589520" y="3199714"/>
            <a:ext cx="109728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39642" y="3118027"/>
            <a:ext cx="109728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66421" y="2740228"/>
            <a:ext cx="109728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193445" y="2030577"/>
            <a:ext cx="109728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970346" y="2020366"/>
            <a:ext cx="109728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972800" y="2020366"/>
            <a:ext cx="109728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23808" y="1994420"/>
            <a:ext cx="146304" cy="146304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616448" y="3447928"/>
            <a:ext cx="146304" cy="146304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74920" y="1627632"/>
            <a:ext cx="5943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 i="0">
                <a:solidFill>
                  <a:srgbClr val="1F3964"/>
                </a:solidFill>
                <a:latin typeface="Calibri"/>
              </a:rPr>
              <a:t>■ AGC-controlled (exact)     ■ channel-model runs (converted)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5760" y="5285232"/>
            <a:ext cx="11430000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0" y="5330952"/>
            <a:ext cx="112471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 i="0">
                <a:solidFill>
                  <a:srgbClr val="202020"/>
                </a:solidFill>
                <a:latin typeface="Calibri"/>
              </a:rPr>
              <a:t>Note:  time-domain SNR = real channel SNR.  The post-FFT (ULSCH) SNR reads ~17 dB higher from OFDM processing gain — so the channel-model runs (32–46 dB ULSCH) are shown at their true ~16–29 dB time-domain values.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5760" y="5797296"/>
            <a:ext cx="11430000" cy="603504"/>
          </a:xfrm>
          <a:prstGeom prst="rect">
            <a:avLst/>
          </a:prstGeom>
          <a:solidFill>
            <a:srgbClr val="E2EFDA"/>
          </a:solidFill>
          <a:ln w="9525">
            <a:solidFill>
              <a:srgbClr val="378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57200" y="5843016"/>
            <a:ext cx="1124712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1F3964"/>
                </a:solidFill>
                <a:latin typeface="Calibri"/>
              </a:rPr>
              <a:t>FINDING:  UL throughput tracks the real (time-domain) SNR monotonically — 20 dB → 5.0 Mbps, 8 dB → 2.1 Mbps — and jitter rises as SNR falls. The demo can sweep link quality on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Evaluation 3 — MIMO Scaling &amp; Fronthaul Dimensioning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Add antennas (1×1 → 4×4)  ·  how does fronthaul load grow?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676656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67665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Measured (iq9, 10 MHz, mobility channel)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371600" cy="420624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13716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Antennas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508760"/>
            <a:ext cx="2011680" cy="420624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508760"/>
            <a:ext cx="201168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FH total Mbps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40" y="1508760"/>
            <a:ext cx="1463040" cy="420624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508760"/>
            <a:ext cx="146304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UL Mbps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508760"/>
            <a:ext cx="1920240" cy="420624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508760"/>
            <a:ext cx="192024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9384"/>
            <a:ext cx="137160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929384"/>
            <a:ext cx="13716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1×1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1929384"/>
            <a:ext cx="20116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1929384"/>
            <a:ext cx="201168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150.8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40" y="1929384"/>
            <a:ext cx="146304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0" y="1929384"/>
            <a:ext cx="146304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4.999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1929384"/>
            <a:ext cx="192024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1929384"/>
            <a:ext cx="192024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378644"/>
                </a:solidFill>
                <a:latin typeface="Calibri"/>
              </a:rPr>
              <a:t>stable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350008"/>
            <a:ext cx="1371600" cy="42062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350008"/>
            <a:ext cx="13716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2×2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2350008"/>
            <a:ext cx="2011680" cy="42062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2350008"/>
            <a:ext cx="201168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301.5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40" y="2350008"/>
            <a:ext cx="1463040" cy="42062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0" y="2350008"/>
            <a:ext cx="146304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4.98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2350008"/>
            <a:ext cx="1920240" cy="42062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2350008"/>
            <a:ext cx="192024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378644"/>
                </a:solidFill>
                <a:latin typeface="Calibri"/>
              </a:rPr>
              <a:t>stable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770632"/>
            <a:ext cx="137160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770632"/>
            <a:ext cx="13716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4×4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37360" y="2770632"/>
            <a:ext cx="20116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37360" y="2770632"/>
            <a:ext cx="201168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1016.1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2770632"/>
            <a:ext cx="146304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2770632"/>
            <a:ext cx="146304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4.998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0" y="2770632"/>
            <a:ext cx="1920240" cy="420624"/>
          </a:xfrm>
          <a:prstGeom prst="rect">
            <a:avLst/>
          </a:prstGeom>
          <a:solidFill>
            <a:srgbClr val="FFF2C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0" y="2770632"/>
            <a:ext cx="192024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works (compute-heavy)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200400"/>
            <a:ext cx="676656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200400"/>
            <a:ext cx="67665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Fronthaul total load (Mbps) scales with antenna 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806440"/>
            <a:ext cx="6400800" cy="18288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547872"/>
            <a:ext cx="12801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 i="1">
                <a:solidFill>
                  <a:srgbClr val="202020"/>
                </a:solidFill>
                <a:latin typeface="Calibri"/>
              </a:rPr>
              <a:t>FH Mbps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1080" y="5530656"/>
            <a:ext cx="1005840" cy="275783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3920" y="5311200"/>
            <a:ext cx="12801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2E75B6"/>
                </a:solidFill>
                <a:latin typeface="Calibri"/>
              </a:rPr>
              <a:t>151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833872"/>
            <a:ext cx="21336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alibri"/>
              </a:rPr>
              <a:t>1×1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5255056"/>
            <a:ext cx="1005840" cy="551383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20" y="5035600"/>
            <a:ext cx="12801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2E75B6"/>
                </a:solidFill>
                <a:latin typeface="Calibri"/>
              </a:rPr>
              <a:t>302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90800" y="5833872"/>
            <a:ext cx="21336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alibri"/>
              </a:rPr>
              <a:t>2×2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88280" y="3948196"/>
            <a:ext cx="1005840" cy="1858243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51120" y="3728740"/>
            <a:ext cx="128016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2E75B6"/>
                </a:solidFill>
                <a:latin typeface="Calibri"/>
              </a:rPr>
              <a:t>1016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24400" y="5833872"/>
            <a:ext cx="213360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 i="0">
                <a:solidFill>
                  <a:srgbClr val="202020"/>
                </a:solidFill>
                <a:latin typeface="Calibri"/>
              </a:rPr>
              <a:t>4×4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1508760"/>
            <a:ext cx="4389120" cy="1691640"/>
          </a:xfrm>
          <a:prstGeom prst="rect">
            <a:avLst/>
          </a:prstGeom>
          <a:solidFill>
            <a:srgbClr val="E2EFDA"/>
          </a:solidFill>
          <a:ln w="9525">
            <a:solidFill>
              <a:srgbClr val="378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0" y="1554480"/>
            <a:ext cx="4206240" cy="1600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1F3964"/>
                </a:solidFill>
                <a:latin typeface="Calibri"/>
              </a:rPr>
              <a:t>FINDING</a:t>
            </a:r>
          </a:p>
          <a:p>
            <a:pPr algn="l"/>
            <a:r>
              <a:rPr sz="1300" b="0" i="0">
                <a:solidFill>
                  <a:srgbClr val="1F3964"/>
                </a:solidFill>
                <a:latin typeface="Calibri"/>
              </a:rPr>
              <a:t>Fronthaul load scales ~linearly with antennas:</a:t>
            </a:r>
          </a:p>
          <a:p>
            <a:pPr algn="l"/>
            <a:r>
              <a:rPr sz="1300" b="0" i="0">
                <a:solidFill>
                  <a:srgbClr val="1F3964"/>
                </a:solidFill>
                <a:latin typeface="Calibri"/>
              </a:rPr>
              <a:t>1×1 → 2×2 → 4×4  =  151 → 302 → 1016 Mbps.</a:t>
            </a:r>
          </a:p>
          <a:p>
            <a:pPr algn="l"/>
            <a:r>
              <a:rPr sz="1300" b="0" i="0">
                <a:solidFill>
                  <a:srgbClr val="1F3964"/>
                </a:solidFill>
                <a:latin typeface="Calibri"/>
              </a:rPr>
              <a:t>Useful for dimensioning the FH link for a target MIMO order.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06640" y="3337560"/>
            <a:ext cx="4389120" cy="128016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0" y="3383280"/>
            <a:ext cx="420624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964"/>
                </a:solidFill>
                <a:latin typeface="Calibri"/>
              </a:rPr>
              <a:t>UL goodput stays ~5 Mbps across all configs — at this bandwidth the air scheduler, not the fronthaul, sets the rate.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06640" y="4754880"/>
            <a:ext cx="4389120" cy="1143000"/>
          </a:xfrm>
          <a:prstGeom prst="rect">
            <a:avLst/>
          </a:prstGeom>
          <a:solidFill>
            <a:srgbClr val="FFF2CC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0" y="4800600"/>
            <a:ext cx="420624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964"/>
                </a:solidFill>
                <a:latin typeface="Calibri"/>
              </a:rPr>
              <a:t>4×4 real-time channel emulation is compute-heavy on a single host — it works but is near the box's CPU limit.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Evaluation 4 — Fronthaul Timing Budget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Tighten the fronthaul delivery window  ·  when does the link start to break?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676656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67665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Measured (2×2, iq9) — tightening the FH delivery deadline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1737360" cy="365760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81328"/>
            <a:ext cx="17373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FH window (µs)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481328"/>
            <a:ext cx="2011680" cy="365760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481328"/>
            <a:ext cx="20116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Packets dropped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481328"/>
            <a:ext cx="1280160" cy="365760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48132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UL Mbps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481328"/>
            <a:ext cx="1737360" cy="365760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481328"/>
            <a:ext cx="17373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47088"/>
            <a:ext cx="17373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847088"/>
            <a:ext cx="17373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200 – 300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1847088"/>
            <a:ext cx="201168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1847088"/>
            <a:ext cx="20116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1847088"/>
            <a:ext cx="12801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184708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~5.0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60" y="1847088"/>
            <a:ext cx="17373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1847088"/>
            <a:ext cx="17373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clean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212848"/>
            <a:ext cx="1737360" cy="36576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212848"/>
            <a:ext cx="17373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350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2212848"/>
            <a:ext cx="2011680" cy="36576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2212848"/>
            <a:ext cx="20116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~8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212848"/>
            <a:ext cx="1280160" cy="36576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221284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4.7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2212848"/>
            <a:ext cx="1737360" cy="36576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0" y="2212848"/>
            <a:ext cx="17373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first drops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578608"/>
            <a:ext cx="17373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578608"/>
            <a:ext cx="17373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400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2578608"/>
            <a:ext cx="2011680" cy="365760"/>
          </a:xfrm>
          <a:prstGeom prst="rect">
            <a:avLst/>
          </a:prstGeom>
          <a:solidFill>
            <a:srgbClr val="FCE4D6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2578608"/>
            <a:ext cx="20116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~120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2578608"/>
            <a:ext cx="12801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0" y="257860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4.0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94960" y="2578608"/>
            <a:ext cx="17373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0" y="2578608"/>
            <a:ext cx="17373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knee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2944368"/>
            <a:ext cx="1737360" cy="36576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2944368"/>
            <a:ext cx="17373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450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03120" y="2944368"/>
            <a:ext cx="2011680" cy="365760"/>
          </a:xfrm>
          <a:prstGeom prst="rect">
            <a:avLst/>
          </a:prstGeom>
          <a:solidFill>
            <a:srgbClr val="F8CBC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03120" y="2944368"/>
            <a:ext cx="20116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~130,000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2944368"/>
            <a:ext cx="1280160" cy="36576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0" y="294436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2.5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94960" y="2944368"/>
            <a:ext cx="1737360" cy="365760"/>
          </a:xfrm>
          <a:prstGeom prst="rect">
            <a:avLst/>
          </a:prstGeom>
          <a:solidFill>
            <a:srgbClr val="F8CBC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94960" y="2944368"/>
            <a:ext cx="17373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degraded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310128"/>
            <a:ext cx="17373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310128"/>
            <a:ext cx="17373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≥ 600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03120" y="3310128"/>
            <a:ext cx="201168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03120" y="3310128"/>
            <a:ext cx="20116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very high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3310128"/>
            <a:ext cx="128016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0" y="3310128"/>
            <a:ext cx="12801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94960" y="3310128"/>
            <a:ext cx="1737360" cy="365760"/>
          </a:xfrm>
          <a:prstGeom prst="rect">
            <a:avLst/>
          </a:prstGeom>
          <a:solidFill>
            <a:srgbClr val="F8CBC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94960" y="3310128"/>
            <a:ext cx="173736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0" i="0">
                <a:solidFill>
                  <a:srgbClr val="C00000"/>
                </a:solidFill>
                <a:latin typeface="Calibri"/>
              </a:rPr>
              <a:t>FAIL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767328"/>
            <a:ext cx="676656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3767328"/>
            <a:ext cx="67665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Packets dropped (log, bars)  +  UL Mbps (line)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788152"/>
            <a:ext cx="6400800" cy="18288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0664" y="5769864"/>
            <a:ext cx="713232" cy="18288"/>
          </a:xfrm>
          <a:prstGeom prst="rect">
            <a:avLst/>
          </a:prstGeom>
          <a:solidFill>
            <a:srgbClr val="3786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504" y="5568696"/>
            <a:ext cx="987552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 i="0">
                <a:solidFill>
                  <a:srgbClr val="378644"/>
                </a:solidFill>
                <a:latin typeface="Calibri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5815584"/>
            <a:ext cx="128016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250µs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20824" y="5617489"/>
            <a:ext cx="713232" cy="170662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83664" y="5416321"/>
            <a:ext cx="987552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 i="0">
                <a:solidFill>
                  <a:srgbClr val="C55A11"/>
                </a:solidFill>
                <a:latin typeface="Calibri"/>
              </a:rPr>
              <a:t>~8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37360" y="5815584"/>
            <a:ext cx="128016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350µs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00984" y="5395236"/>
            <a:ext cx="713232" cy="392915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63824" y="5194068"/>
            <a:ext cx="987552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 i="0">
                <a:solidFill>
                  <a:srgbClr val="C55A11"/>
                </a:solidFill>
                <a:latin typeface="Calibri"/>
              </a:rPr>
              <a:t>~120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17520" y="5815584"/>
            <a:ext cx="128016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400µs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81144" y="4821739"/>
            <a:ext cx="713232" cy="96641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43984" y="4620571"/>
            <a:ext cx="987552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Calibri"/>
              </a:rPr>
              <a:t>~130k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97680" y="5815584"/>
            <a:ext cx="128016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450µs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61304" y="4654296"/>
            <a:ext cx="713232" cy="113385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24144" y="4453128"/>
            <a:ext cx="987552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Calibri"/>
              </a:rPr>
              <a:t>crash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77840" y="5815584"/>
            <a:ext cx="128016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0">
                <a:solidFill>
                  <a:srgbClr val="202020"/>
                </a:solidFill>
                <a:latin typeface="Calibri"/>
              </a:rPr>
              <a:t>600µs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097280.0" y="4607052.0"/>
            <a:ext cx="1280160.0" cy="70866.0"/>
          </a:xfrm>
          <a:prstGeom prst="bentConnector3">
            <a:avLst/>
          </a:prstGeom>
          <a:ln w="28575">
            <a:solidFill>
              <a:srgbClr val="1F39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377440.0" y="4677918.0"/>
            <a:ext cx="1280160.0" cy="165354.0"/>
          </a:xfrm>
          <a:prstGeom prst="bentConnector3">
            <a:avLst/>
          </a:prstGeom>
          <a:ln w="28575">
            <a:solidFill>
              <a:srgbClr val="1F39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657600.0" y="4843272.0"/>
            <a:ext cx="1280160.0" cy="354330.0"/>
          </a:xfrm>
          <a:prstGeom prst="bentConnector3">
            <a:avLst/>
          </a:prstGeom>
          <a:ln w="28575">
            <a:solidFill>
              <a:srgbClr val="1F39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937760.0" y="5197602.0"/>
            <a:ext cx="1280160.0" cy="590550.0"/>
          </a:xfrm>
          <a:prstGeom prst="bentConnector3">
            <a:avLst/>
          </a:prstGeom>
          <a:ln w="28575">
            <a:solidFill>
              <a:srgbClr val="1F396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1051560" y="4561332"/>
            <a:ext cx="91440" cy="91440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331720" y="4632198"/>
            <a:ext cx="91440" cy="91440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611880" y="4797552"/>
            <a:ext cx="91440" cy="91440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892040" y="5151882"/>
            <a:ext cx="91440" cy="91440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72200" y="5742432"/>
            <a:ext cx="91440" cy="91440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06640" y="1481328"/>
            <a:ext cx="4389120" cy="1874519"/>
          </a:xfrm>
          <a:prstGeom prst="rect">
            <a:avLst/>
          </a:prstGeom>
          <a:solidFill>
            <a:srgbClr val="E2EFDA"/>
          </a:solidFill>
          <a:ln w="9525">
            <a:solidFill>
              <a:srgbClr val="378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98080" y="1527048"/>
            <a:ext cx="4206240" cy="178307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1F3964"/>
                </a:solidFill>
                <a:latin typeface="Calibri"/>
              </a:rPr>
              <a:t>FINDING</a:t>
            </a:r>
          </a:p>
          <a:p>
            <a:pPr algn="l"/>
            <a:r>
              <a:rPr sz="1300" b="0" i="0">
                <a:solidFill>
                  <a:srgbClr val="1F3964"/>
                </a:solidFill>
                <a:latin typeface="Calibri"/>
              </a:rPr>
              <a:t>There is a sharp 'knee' in the fronthaul timing budget:</a:t>
            </a:r>
          </a:p>
          <a:p>
            <a:pPr algn="l"/>
            <a:r>
              <a:rPr sz="1300" b="0" i="0">
                <a:solidFill>
                  <a:srgbClr val="1F3964"/>
                </a:solidFill>
                <a:latin typeface="Calibri"/>
              </a:rPr>
              <a:t>the link is clean down to ~350 µs, then collapses between 400–450 µs (dropped packets jump ×1000, UL halves), and fails below the budget.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06640" y="3520440"/>
            <a:ext cx="4389120" cy="128016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98080" y="3566160"/>
            <a:ext cx="4206240" cy="11887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964"/>
                </a:solidFill>
                <a:latin typeface="Calibri"/>
              </a:rPr>
              <a:t>This is exactly the kind of timing-margin test you want before deploying on a real fronthaul link with finite latency.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Evaluation 5 — Mobility / Time-Varying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Sweep a time-varying fading channel at 3 / 60 / 120 km/h-equivalent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Measured (2×2, iq9, fading channel)  ·  SNR = time-domain (real channel) SNR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011680" cy="402336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463040"/>
            <a:ext cx="2011680" cy="402336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463040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TD SNR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2743200" cy="402336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63040"/>
            <a:ext cx="2743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UL Mbps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463040"/>
            <a:ext cx="4663440" cy="402336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463040"/>
            <a:ext cx="46634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65376"/>
            <a:ext cx="2011680" cy="40233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865376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3 km/h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1865376"/>
            <a:ext cx="2011680" cy="40233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1865376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~16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865376"/>
            <a:ext cx="2743200" cy="40233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865376"/>
            <a:ext cx="2743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2.67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865376"/>
            <a:ext cx="4663440" cy="40233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865376"/>
            <a:ext cx="46634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ok (low-SNR run)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267712"/>
            <a:ext cx="2011680" cy="402336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267712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3 km/h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2267712"/>
            <a:ext cx="2011680" cy="402336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77440" y="2267712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~22–29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0" y="2267712"/>
            <a:ext cx="2743200" cy="402336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267712"/>
            <a:ext cx="2743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~4.98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2267712"/>
            <a:ext cx="4663440" cy="402336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2267712"/>
            <a:ext cx="46634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ok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670048"/>
            <a:ext cx="2011680" cy="40233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670048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60 km/h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0" y="2670048"/>
            <a:ext cx="2011680" cy="40233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77440" y="2670048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~21–27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2670048"/>
            <a:ext cx="2743200" cy="40233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2670048"/>
            <a:ext cx="2743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4.4 – 4.98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2670048"/>
            <a:ext cx="4663440" cy="40233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2670048"/>
            <a:ext cx="46634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ok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072384"/>
            <a:ext cx="2011680" cy="402336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072384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120 km/h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3072384"/>
            <a:ext cx="2011680" cy="402336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40" y="3072384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3072384"/>
            <a:ext cx="2743200" cy="402336"/>
          </a:xfrm>
          <a:prstGeom prst="rect">
            <a:avLst/>
          </a:prstGeom>
          <a:solidFill>
            <a:srgbClr val="F8CBC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0" y="3072384"/>
            <a:ext cx="2743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0" y="3072384"/>
            <a:ext cx="4663440" cy="402336"/>
          </a:xfrm>
          <a:prstGeom prst="rect">
            <a:avLst/>
          </a:prstGeom>
          <a:solidFill>
            <a:srgbClr val="F8CBCB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0" y="3072384"/>
            <a:ext cx="466344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C00000"/>
                </a:solidFill>
                <a:latin typeface="Calibri"/>
              </a:rPr>
              <a:t>FAIL — DL sync cannot lock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749039"/>
            <a:ext cx="11430000" cy="777240"/>
          </a:xfrm>
          <a:prstGeom prst="rect">
            <a:avLst/>
          </a:prstGeom>
          <a:solidFill>
            <a:srgbClr val="E2EFDA"/>
          </a:solidFill>
          <a:ln w="9525">
            <a:solidFill>
              <a:srgbClr val="378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794759"/>
            <a:ext cx="1124712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50" b="0" i="0">
                <a:solidFill>
                  <a:srgbClr val="1F3964"/>
                </a:solidFill>
                <a:latin typeface="Calibri"/>
              </a:rPr>
              <a:t>FINDING:  at good SNR the link is robust to mobility — UL stays ~5 Mbps up to 60 km/h-equivalent. At 120 km/h the very fast fading prevents the UE from locking onto the downlink.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617720"/>
            <a:ext cx="11430000" cy="713232"/>
          </a:xfrm>
          <a:prstGeom prst="rect">
            <a:avLst/>
          </a:prstGeom>
          <a:solidFill>
            <a:srgbClr val="FFF2CC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663440"/>
            <a:ext cx="1124712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964"/>
                </a:solidFill>
                <a:latin typeface="Calibri"/>
              </a:rPr>
              <a:t>Scope note:  the demo models mobility as a channel time-variation factor, not a true Doppler shift, so this evaluates link robustness to fast fading rather than precise velocity effects.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422392"/>
            <a:ext cx="11430000" cy="713232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468112"/>
            <a:ext cx="11247120" cy="6217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964"/>
                </a:solidFill>
                <a:latin typeface="Calibri"/>
              </a:rPr>
              <a:t>Also: uplink channel estimation is per-slot, so uplink data is largely insensitive to channel aging — the mobility effect shows up mainly in initial downlink synchronisation.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Evaluation 6 — Bandwidth Scaling &amp; Fronthaul Headroom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How much fronthaul headroom is there, and what limits wider bandwidth?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676656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67665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Fronthaul capacity vs actual demo 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108960" cy="420624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310896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Fronthaul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508760"/>
            <a:ext cx="2011680" cy="420624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08760"/>
            <a:ext cx="201168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Capacity / 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508760"/>
            <a:ext cx="1645920" cy="420624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508760"/>
            <a:ext cx="164592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Utilisation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29384"/>
            <a:ext cx="310896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929384"/>
            <a:ext cx="310896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Link capacity (measured)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929384"/>
            <a:ext cx="2011680" cy="420624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929384"/>
            <a:ext cx="201168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6.36 Gbps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929384"/>
            <a:ext cx="164592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0" y="1929384"/>
            <a:ext cx="164592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350008"/>
            <a:ext cx="3108960" cy="42062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350008"/>
            <a:ext cx="310896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10 MHz · 1×1 · iq9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2350008"/>
            <a:ext cx="2011680" cy="42062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2350008"/>
            <a:ext cx="201168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0.15 Gbps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2350008"/>
            <a:ext cx="1645920" cy="420624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2350008"/>
            <a:ext cx="164592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2 %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770632"/>
            <a:ext cx="310896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770632"/>
            <a:ext cx="310896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10 MHz · 4×4 · iq16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2770632"/>
            <a:ext cx="201168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2770632"/>
            <a:ext cx="201168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1.02 Gbps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2770632"/>
            <a:ext cx="1645920" cy="420624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2770632"/>
            <a:ext cx="164592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16 %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200400"/>
            <a:ext cx="6766560" cy="2743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200400"/>
            <a:ext cx="676656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Wider bandwidth — current 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520440"/>
            <a:ext cx="3291840" cy="420624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520440"/>
            <a:ext cx="329184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Bandwidth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3520440"/>
            <a:ext cx="3474720" cy="420624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0" y="3520440"/>
            <a:ext cx="347472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941064"/>
            <a:ext cx="329184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941064"/>
            <a:ext cx="329184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10 MHz (24 PRB)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3941064"/>
            <a:ext cx="3474720" cy="420624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3941064"/>
            <a:ext cx="347472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works 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361688"/>
            <a:ext cx="3291840" cy="420624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361688"/>
            <a:ext cx="329184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40 MHz (106 PRB)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0" y="4361688"/>
            <a:ext cx="3474720" cy="420624"/>
          </a:xfrm>
          <a:prstGeom prst="rect">
            <a:avLst/>
          </a:prstGeom>
          <a:solidFill>
            <a:srgbClr val="FFF2C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0" y="4361688"/>
            <a:ext cx="347472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not yet — needs PHY rework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782312"/>
            <a:ext cx="3291840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4782312"/>
            <a:ext cx="329184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≥ 50 MHz / 100 MHz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4782312"/>
            <a:ext cx="3474720" cy="420624"/>
          </a:xfrm>
          <a:prstGeom prst="rect">
            <a:avLst/>
          </a:prstGeom>
          <a:solidFill>
            <a:srgbClr val="FFF2CC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4782312"/>
            <a:ext cx="347472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not yet — compute / PHY limits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1508760"/>
            <a:ext cx="4389120" cy="1691640"/>
          </a:xfrm>
          <a:prstGeom prst="rect">
            <a:avLst/>
          </a:prstGeom>
          <a:solidFill>
            <a:srgbClr val="E2EFDA"/>
          </a:solidFill>
          <a:ln w="9525">
            <a:solidFill>
              <a:srgbClr val="3786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0" y="1554480"/>
            <a:ext cx="4206240" cy="1600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1F3964"/>
                </a:solidFill>
                <a:latin typeface="Calibri"/>
              </a:rPr>
              <a:t>FINDING</a:t>
            </a:r>
          </a:p>
          <a:p>
            <a:pPr algn="l"/>
            <a:r>
              <a:rPr sz="1300" b="0" i="0">
                <a:solidFill>
                  <a:srgbClr val="1F3964"/>
                </a:solidFill>
                <a:latin typeface="Calibri"/>
              </a:rPr>
              <a:t>The fronthaul is massively over-provisioned — the demo uses at most 16% of link capacity, so fronthaul bandwidth is never the bottleneck.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3337560"/>
            <a:ext cx="4389120" cy="1554480"/>
          </a:xfrm>
          <a:prstGeom prst="rect">
            <a:avLst/>
          </a:prstGeom>
          <a:solidFill>
            <a:srgbClr val="BDD7EE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80" y="3383280"/>
            <a:ext cx="4206240" cy="1463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50" b="0" i="0">
                <a:solidFill>
                  <a:srgbClr val="1F3964"/>
                </a:solidFill>
                <a:latin typeface="Calibri"/>
              </a:rPr>
              <a:t>The cell currently runs at 10 MHz. Going wider is a known next step that needs PHY-layer rework and more real-time compute — not more fronthaul.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This Demo Can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One platform, six evaluation axes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468880" cy="566928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2468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234440"/>
            <a:ext cx="3017520" cy="566928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234440"/>
            <a:ext cx="3017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What we sweep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234440"/>
            <a:ext cx="5943600" cy="566928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234440"/>
            <a:ext cx="5943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What we find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01368"/>
            <a:ext cx="246888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01368"/>
            <a:ext cx="2468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IQ compression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801368"/>
            <a:ext cx="301752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801368"/>
            <a:ext cx="3017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IQ width 8→16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801368"/>
            <a:ext cx="594360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801368"/>
            <a:ext cx="5943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FH load −47% at iq8, no UL loss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68296"/>
            <a:ext cx="2468880" cy="566928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368296"/>
            <a:ext cx="2468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Link quality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368296"/>
            <a:ext cx="3017520" cy="566928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2368296"/>
            <a:ext cx="3017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RX SNR (AGC)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368296"/>
            <a:ext cx="5943600" cy="566928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2368296"/>
            <a:ext cx="5943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UL tracks SNR: 5.0 → 2.1 Mbps (20→8 dB)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35224"/>
            <a:ext cx="246888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935224"/>
            <a:ext cx="2468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MIMO scaling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2935224"/>
            <a:ext cx="301752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2935224"/>
            <a:ext cx="3017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1×1 → 4×4 antennas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2935224"/>
            <a:ext cx="594360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2935224"/>
            <a:ext cx="5943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FH load scales ×N (151 → 1016 Mbps)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502152"/>
            <a:ext cx="2468880" cy="566928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502152"/>
            <a:ext cx="2468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FH timing budget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502152"/>
            <a:ext cx="3017520" cy="566928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3502152"/>
            <a:ext cx="3017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FH delivery window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3502152"/>
            <a:ext cx="5943600" cy="566928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3502152"/>
            <a:ext cx="5943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sharp knee at 400–450 µs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069080"/>
            <a:ext cx="246888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069080"/>
            <a:ext cx="2468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Mobility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4069080"/>
            <a:ext cx="301752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4069080"/>
            <a:ext cx="3017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fading speed 3–120 km/h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4069080"/>
            <a:ext cx="5943600" cy="56692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2160" y="4069080"/>
            <a:ext cx="5943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robust ≤60 km/h; DL sync fails at 120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36008"/>
            <a:ext cx="2468880" cy="566928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636008"/>
            <a:ext cx="2468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Bandwidth / FH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4636008"/>
            <a:ext cx="3017520" cy="566928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34640" y="4636008"/>
            <a:ext cx="3017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PRB / antennas / iq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4636008"/>
            <a:ext cx="5943600" cy="566928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60" y="4636008"/>
            <a:ext cx="59436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FH ≤16% utilised — large headroom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166360"/>
            <a:ext cx="11430000" cy="914400"/>
          </a:xfrm>
          <a:prstGeom prst="rect">
            <a:avLst/>
          </a:prstGeom>
          <a:solidFill>
            <a:srgbClr val="1F3964"/>
          </a:solidFill>
          <a:ln w="9525">
            <a:solidFill>
              <a:srgbClr val="1F39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212080"/>
            <a:ext cx="1124712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Take-away:  one host lets us SEE the system trade-offs — compression vs fronthaul load, SNR vs throughput, MIMO vs fronthaul load, timing budget vs link, bandwidth vs fronthaul headroom — with real DPDK fronthaul and real over-the-air goodput.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152144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All numbers measured on the demo (UL received at the 5GC, iperf3 UDP)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389120" cy="548640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4389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234440"/>
            <a:ext cx="7040880" cy="548640"/>
          </a:xfrm>
          <a:prstGeom prst="rect">
            <a:avLst/>
          </a:prstGeom>
          <a:solidFill>
            <a:srgbClr val="2E75B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234440"/>
            <a:ext cx="7040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438912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83080"/>
            <a:ext cx="4389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Baseline UL (10 MHz, 1×1, iq9)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783080"/>
            <a:ext cx="7040880" cy="54864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783080"/>
            <a:ext cx="7040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5.0 Mbps · 0% loss · 1.8 ms jitter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31720"/>
            <a:ext cx="4389120" cy="54864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331720"/>
            <a:ext cx="4389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IQ compression iq16 → iq8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331720"/>
            <a:ext cx="7040880" cy="54864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331720"/>
            <a:ext cx="7040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FH load 254 → 135 Mbps (−47%), UL unchanged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80360"/>
            <a:ext cx="438912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880360"/>
            <a:ext cx="4389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UL vs SNR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2880360"/>
            <a:ext cx="7040880" cy="54864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2880360"/>
            <a:ext cx="7040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20 dB → 5.0 Mbps   /   8 dB → 2.1 Mbps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29000"/>
            <a:ext cx="4389120" cy="54864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429000"/>
            <a:ext cx="4389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MIMO FH load 1×1 / 2×2 / 4×4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3429000"/>
            <a:ext cx="7040880" cy="54864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429000"/>
            <a:ext cx="7040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151 / 302 / 1016 Mbps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77640"/>
            <a:ext cx="438912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977640"/>
            <a:ext cx="4389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FH timing knee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3977640"/>
            <a:ext cx="704088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3977640"/>
            <a:ext cx="7040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clean ≤350 µs → collapses 400–450 µs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526280"/>
            <a:ext cx="4389120" cy="54864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526280"/>
            <a:ext cx="4389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Mobility robustness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4526280"/>
            <a:ext cx="7040880" cy="548640"/>
          </a:xfrm>
          <a:prstGeom prst="rect">
            <a:avLst/>
          </a:prstGeom>
          <a:solidFill>
            <a:srgbClr val="BDD7EE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4526280"/>
            <a:ext cx="7040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stable ≤60 km/h-equiv; fails at 120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074920"/>
            <a:ext cx="438912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074920"/>
            <a:ext cx="438912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Fronthaul link capacity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5074920"/>
            <a:ext cx="704088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5074920"/>
            <a:ext cx="7040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6.36 Gbps — demo uses ≤16%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669280"/>
            <a:ext cx="11430000" cy="777240"/>
          </a:xfrm>
          <a:prstGeom prst="rect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715000"/>
            <a:ext cx="11247120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Bottom line:  a single-host O-RAN 7.2 split that lets us explore system-level trade-offs across compression, SNR, MIMO, latency, PRB / bandwidth, and mobility.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