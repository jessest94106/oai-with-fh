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AdiS39wi23t6hnRfmJcFNC9OI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82c5a52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82c5a52a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82c5a52a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82c5a52a9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82c5a52a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82c5a52a9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2240280"/>
            <a:ext cx="12191695" cy="2423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OAI O-RAN 7.2 Split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2331720"/>
            <a:ext cx="11064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Demo of End-to-End Emulation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IQ Compression Evaluation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Single-host DU + O-RU + UE over real DPDK fronthaul — a platform to observe system trade-offs: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UL throughput · fronthaul load · latency · PRB / bandwidth · SNR · mobility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Jesse   · 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Overview in the Demo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One host runs the whole 5G chain — real DPDK fronthaul, emulated radio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457200" y="1234440"/>
            <a:ext cx="2194560" cy="8046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7200" y="1234440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nr-softmodem (PHY/MAC)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457200" y="205740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24 PRB · µ1 30 kHz · n77 4.05 GHz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297680" y="1234440"/>
            <a:ext cx="21945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297680" y="1234440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O-RU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nr-oru (RU PHY)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297680" y="205740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O-RAN 7.2 split · IQ compression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138160" y="1234440"/>
            <a:ext cx="2194560" cy="8046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138160" y="1234440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nr-uesoftmodem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8138160" y="205740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1 UE · oaitun_ue1 · 10.0.0.x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2651760" y="1600200"/>
            <a:ext cx="164592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651760" y="123444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O-RAN 7.2 FH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651760" y="165506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eCPRI · DPDK SR-IOV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VF0/1↑  VF2/3↓ · VLAN 3/4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492240" y="1600200"/>
            <a:ext cx="164592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92240" y="123444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vrtsim air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492240" y="165506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shared memory · IQ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TDL fading · AGC SNR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457200" y="23408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↕  NGAP / GTP-U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457200" y="2615184"/>
            <a:ext cx="2194560" cy="749808"/>
          </a:xfrm>
          <a:prstGeom prst="rect">
            <a:avLst/>
          </a:prstGeom>
          <a:solidFill>
            <a:srgbClr val="105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57200" y="261518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OAI 5GC (docker)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AMF · SMF · UPF · NRF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138160" y="234086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↕  iperf3 client (UE) -c 10.0.0.1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8138160" y="2615184"/>
            <a:ext cx="2194560" cy="749808"/>
          </a:xfrm>
          <a:prstGeom prst="rect">
            <a:avLst/>
          </a:prstGeom>
          <a:solidFill>
            <a:srgbClr val="1040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138160" y="261518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received here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(iperf3 server @ 5GC/UPF)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297680" y="261518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real-time 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emulation (CPU)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57200" y="3493008"/>
            <a:ext cx="11247120" cy="29260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57200" y="3493008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NIC: Intel X710 (i40e) · 5 SR-IOV VFs · VF↔VF loopback (embedded VEB switch, no cable)   |   Fronthaul = real eCPRI packets over DPDK   |   Air = vrtsim shared-memory IQ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57200" y="3858768"/>
            <a:ext cx="1124712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7200" y="385876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can sweep / evaluate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57200" y="4114800"/>
            <a:ext cx="3931920" cy="28346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457200" y="4114800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4389120" y="4114800"/>
            <a:ext cx="7315200" cy="28346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389120" y="4114800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controls in the demo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457200" y="4398264"/>
            <a:ext cx="393192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457200" y="4398264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 width  (8 / 9 / 12 / 16)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4389120" y="4398264"/>
            <a:ext cx="731520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4389120" y="4398264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Fronthaul byte load (IQ compression)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457200" y="4681728"/>
            <a:ext cx="393192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57200" y="4681728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RX target SNR (dB)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4389120" y="4681728"/>
            <a:ext cx="731520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4389120" y="4681728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Radio link quality (time-domain AGC)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457200" y="4965192"/>
            <a:ext cx="393192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457200" y="4965192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Antennas  (1×1 → 4×4)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4389120" y="4965192"/>
            <a:ext cx="731520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4389120" y="4965192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MIMO layers &amp; fronthaul load multiplier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457200" y="5248656"/>
            <a:ext cx="393192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457200" y="5248656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FH delivery window (µs)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4389120" y="5248656"/>
            <a:ext cx="731520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4389120" y="5248656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Fronthaul timing / latency budget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457200" y="5532120"/>
            <a:ext cx="393192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57200" y="5532120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Mobility (channel time-var.)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4389120" y="5532120"/>
            <a:ext cx="7315200" cy="28346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4389120" y="5532120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Time-varying fading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457200" y="5815584"/>
            <a:ext cx="393192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457200" y="5815584"/>
            <a:ext cx="3931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Bandwidth (PRB)</a:t>
            </a: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4389120" y="5815584"/>
            <a:ext cx="7315200" cy="28346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389120" y="5815584"/>
            <a:ext cx="73152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Cell bandwidth, 10 – 100 MHz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457200" y="6163056"/>
            <a:ext cx="11247120" cy="36576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548640" y="62087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UL throughput = traffic RECEIVED at the 5GC (UPF), where the iperf3 server runs — the real goodput, not the UE's send rate (which over-reports, since the UE drops excess at the TUN).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1 — IQ Compression vs Fronthaul Load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Sweep IQ width 8→16 in one bringup  ·  what does compression buy us?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Measured (single sweep, 1×1 ideal channel)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65760" y="1508760"/>
            <a:ext cx="2468880" cy="42062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365760" y="1508760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 width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2834640" y="1508760"/>
            <a:ext cx="1737360" cy="42062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2834640" y="150876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FH total Mbps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4572000" y="1508760"/>
            <a:ext cx="1371600" cy="42062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4572000" y="1508760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5943600" y="1508760"/>
            <a:ext cx="1188720" cy="420624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943600" y="150876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loss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365760" y="1929384"/>
            <a:ext cx="246888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365760" y="1929384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8  (most compressed)</a:t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2834640" y="1929384"/>
            <a:ext cx="173736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2834640" y="192938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135.2</a:t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4572000" y="1929384"/>
            <a:ext cx="137160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4572000" y="1929384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.999</a:t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5943600" y="1929384"/>
            <a:ext cx="118872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5943600" y="1929384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0.00%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365760" y="2350008"/>
            <a:ext cx="246888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365760" y="2350008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9  (BFP default)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2834640" y="2350008"/>
            <a:ext cx="173736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834640" y="235000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150.8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4572000" y="2350008"/>
            <a:ext cx="137160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4572000" y="2350008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.999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5943600" y="2350008"/>
            <a:ext cx="118872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5943600" y="235000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0.00%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365760" y="2770632"/>
            <a:ext cx="246888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365760" y="2770632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2834640" y="2770632"/>
            <a:ext cx="173736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2834640" y="277063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197.4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4572000" y="2770632"/>
            <a:ext cx="137160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4572000" y="2770632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.001</a:t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5943600" y="2770632"/>
            <a:ext cx="1188720" cy="42062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5943600" y="2770632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0.00%</a:t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365760" y="3191256"/>
            <a:ext cx="246888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365760" y="3191256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16 (uncompressed)</a:t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2834640" y="3191256"/>
            <a:ext cx="173736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2834640" y="319125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254.0</a:t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4572000" y="3191256"/>
            <a:ext cx="137160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4572000" y="3191256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.001</a:t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5943600" y="3191256"/>
            <a:ext cx="1188720" cy="420624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5943600" y="3191256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0.00%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365760" y="361188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365760" y="361188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Fronthaul load (bars) vs UL throughput (line)</a:t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457200" y="5943599"/>
            <a:ext cx="6400800" cy="1828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411480" y="395935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FH Mbps</a:t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857250" y="5104702"/>
            <a:ext cx="800100" cy="838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720090" y="4885246"/>
            <a:ext cx="107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457200" y="5971031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iq8</a:t>
            </a:r>
            <a:endParaRPr/>
          </a:p>
        </p:txBody>
      </p:sp>
      <p:sp>
        <p:nvSpPr>
          <p:cNvPr id="209" name="Google Shape;209;p3"/>
          <p:cNvSpPr/>
          <p:nvPr/>
        </p:nvSpPr>
        <p:spPr>
          <a:xfrm>
            <a:off x="2457450" y="5007906"/>
            <a:ext cx="800100" cy="9356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2320290" y="4788450"/>
            <a:ext cx="10744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151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2057400" y="5971031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iq9</a:t>
            </a:r>
            <a:endParaRPr/>
          </a:p>
        </p:txBody>
      </p:sp>
      <p:sp>
        <p:nvSpPr>
          <p:cNvPr id="212" name="Google Shape;212;p3"/>
          <p:cNvSpPr/>
          <p:nvPr/>
        </p:nvSpPr>
        <p:spPr>
          <a:xfrm>
            <a:off x="4057650" y="4718760"/>
            <a:ext cx="800100" cy="122483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3920490" y="4499304"/>
            <a:ext cx="10744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/>
          </a:p>
        </p:txBody>
      </p:sp>
      <p:sp>
        <p:nvSpPr>
          <p:cNvPr id="214" name="Google Shape;214;p3"/>
          <p:cNvSpPr txBox="1"/>
          <p:nvPr/>
        </p:nvSpPr>
        <p:spPr>
          <a:xfrm>
            <a:off x="3657600" y="5971031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iq12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5657850" y="4367565"/>
            <a:ext cx="800100" cy="15759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5520690" y="4148109"/>
            <a:ext cx="10744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254</a:t>
            </a:r>
            <a:endParaRPr/>
          </a:p>
        </p:txBody>
      </p:sp>
      <p:sp>
        <p:nvSpPr>
          <p:cNvPr id="217" name="Google Shape;217;p3"/>
          <p:cNvSpPr txBox="1"/>
          <p:nvPr/>
        </p:nvSpPr>
        <p:spPr>
          <a:xfrm>
            <a:off x="5257800" y="5971031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iq16</a:t>
            </a:r>
            <a:endParaRPr/>
          </a:p>
        </p:txBody>
      </p:sp>
      <p:cxnSp>
        <p:nvCxnSpPr>
          <p:cNvPr id="218" name="Google Shape;218;p3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3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3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3"/>
          <p:cNvSpPr txBox="1"/>
          <p:nvPr/>
        </p:nvSpPr>
        <p:spPr>
          <a:xfrm>
            <a:off x="457200" y="3959351"/>
            <a:ext cx="6400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7406640" y="1508760"/>
            <a:ext cx="4389120" cy="13716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 txBox="1"/>
          <p:nvPr/>
        </p:nvSpPr>
        <p:spPr>
          <a:xfrm>
            <a:off x="7498080" y="155448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Compressing IQ from 16→8 bits cuts fronthaul load 47%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(254 → 135 Mbps) with NO loss of UL throughput or quality.</a:t>
            </a:r>
            <a:endParaRPr/>
          </a:p>
        </p:txBody>
      </p:sp>
      <p:sp>
        <p:nvSpPr>
          <p:cNvPr id="224" name="Google Shape;224;p3"/>
          <p:cNvSpPr/>
          <p:nvPr/>
        </p:nvSpPr>
        <p:spPr>
          <a:xfrm>
            <a:off x="7406640" y="3017520"/>
            <a:ext cx="4389120" cy="132588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7498080" y="3063240"/>
            <a:ext cx="42062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Why UL stays flat: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the fronthaul link here has huge spare capacity (uses &lt;5%), so saving FH bytes does not change the air throughput.</a:t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7406640" y="4480560"/>
            <a:ext cx="4389120" cy="123444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 txBox="1"/>
          <p:nvPr/>
        </p:nvSpPr>
        <p:spPr>
          <a:xfrm>
            <a:off x="7498080" y="4526280"/>
            <a:ext cx="4206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To expose a compression-vs-quality trade-off, constrain the FH pipe (Eval 4) or raise the load with MIMO (Eval 3).</a:t>
            </a:r>
            <a:endParaRPr/>
          </a:p>
        </p:txBody>
      </p:sp>
      <p:sp>
        <p:nvSpPr>
          <p:cNvPr id="228" name="Google Shape;228;p3"/>
          <p:cNvSpPr txBox="1"/>
          <p:nvPr/>
        </p:nvSpPr>
        <p:spPr>
          <a:xfrm>
            <a:off x="365750" y="6254500"/>
            <a:ext cx="11712300" cy="3951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01600" spcFirstLastPara="1" rIns="1016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Test conditions:  </a:t>
            </a: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24 PRB · n77 4049.76 MHz (≈4.05 GHz) · numerology µ1 (30 kHz SCS) · MCS 28 (64QAM) · post-proc SNR ≈ 38.8 dB (iq9)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TDD &amp; scheduler:  </a:t>
            </a: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D·M·</a:t>
            </a:r>
            <a:r>
              <a:rPr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·U = </a:t>
            </a:r>
            <a:r>
              <a:rPr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of 5 UL slots(20%),  theoretical UL ≈ 7 Mbps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2 — Link Quality (SNR) vs UL Throughput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Axis is TIME-DOMAIN RX SNR (the real channel SNR) injected by the vrtsim AGC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365760" y="1188720"/>
            <a:ext cx="42062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365760" y="11887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Time-domain SNR — AGC-controlled (validated)</a:t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365760" y="1481328"/>
            <a:ext cx="1371600" cy="384048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365760" y="14813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TD SNR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1737360" y="1481328"/>
            <a:ext cx="1463040" cy="384048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1737360" y="14813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3200400" y="1481328"/>
            <a:ext cx="1371600" cy="384048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3200400" y="14813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Jitter ms</a:t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20 dB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1737360" y="1865376"/>
            <a:ext cx="1463040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1737360" y="186537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6.99</a:t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3200400" y="1865376"/>
            <a:ext cx="1371600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3200400" y="186537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1.83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365760" y="2249424"/>
            <a:ext cx="1371600" cy="384048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365760" y="22494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8 dB</a:t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1737360" y="2249424"/>
            <a:ext cx="1463040" cy="384048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1737360" y="22494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3.01</a:t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3200400" y="2249424"/>
            <a:ext cx="1371600" cy="384048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3200400" y="22494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4.92</a:t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365760" y="2743200"/>
            <a:ext cx="420624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365760" y="27432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Channel-model runs (ULSCH → time-domain)</a:t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365760" y="3035808"/>
            <a:ext cx="1463040" cy="301752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 txBox="1"/>
          <p:nvPr/>
        </p:nvSpPr>
        <p:spPr>
          <a:xfrm>
            <a:off x="365760" y="3035808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ULSCH dB</a:t>
            </a: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1828800" y="3035808"/>
            <a:ext cx="1280160" cy="301752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 txBox="1"/>
          <p:nvPr/>
        </p:nvSpPr>
        <p:spPr>
          <a:xfrm>
            <a:off x="1828800" y="3035808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TD dB</a:t>
            </a: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3108960" y="3035808"/>
            <a:ext cx="1463040" cy="301752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 txBox="1"/>
          <p:nvPr/>
        </p:nvSpPr>
        <p:spPr>
          <a:xfrm>
            <a:off x="3108960" y="3035808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365760" y="3337560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365760" y="3337560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32.8</a:t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1828800" y="3337560"/>
            <a:ext cx="128016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 txBox="1"/>
          <p:nvPr/>
        </p:nvSpPr>
        <p:spPr>
          <a:xfrm>
            <a:off x="1828800" y="3337560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~16</a:t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3108960" y="3337560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 txBox="1"/>
          <p:nvPr/>
        </p:nvSpPr>
        <p:spPr>
          <a:xfrm>
            <a:off x="3108960" y="3337560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3.74</a:t>
            </a: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365760" y="3639312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 txBox="1"/>
          <p:nvPr/>
        </p:nvSpPr>
        <p:spPr>
          <a:xfrm>
            <a:off x="365760" y="363931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33.0</a:t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1828800" y="3639312"/>
            <a:ext cx="128016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1828800" y="3639312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~16</a:t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3108960" y="3639312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 txBox="1"/>
          <p:nvPr/>
        </p:nvSpPr>
        <p:spPr>
          <a:xfrm>
            <a:off x="3108960" y="363931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3.96</a:t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365760" y="3941064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 txBox="1"/>
          <p:nvPr/>
        </p:nvSpPr>
        <p:spPr>
          <a:xfrm>
            <a:off x="365760" y="3941064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35.9</a:t>
            </a: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1828800" y="3941064"/>
            <a:ext cx="128016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1828800" y="3941064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~19</a:t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3108960" y="3941064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3108960" y="3941064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5.00</a:t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365760" y="4242816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365760" y="4242816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39.2</a:t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1828800" y="4242816"/>
            <a:ext cx="128016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 txBox="1"/>
          <p:nvPr/>
        </p:nvSpPr>
        <p:spPr>
          <a:xfrm>
            <a:off x="1828800" y="4242816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~22</a:t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3108960" y="4242816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 txBox="1"/>
          <p:nvPr/>
        </p:nvSpPr>
        <p:spPr>
          <a:xfrm>
            <a:off x="3108960" y="4242816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6.94</a:t>
            </a: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365760" y="4544568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 txBox="1"/>
          <p:nvPr/>
        </p:nvSpPr>
        <p:spPr>
          <a:xfrm>
            <a:off x="365760" y="4544568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42.3</a:t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1828800" y="4544568"/>
            <a:ext cx="128016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 txBox="1"/>
          <p:nvPr/>
        </p:nvSpPr>
        <p:spPr>
          <a:xfrm>
            <a:off x="1828800" y="4544568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~25</a:t>
            </a: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3108960" y="4544568"/>
            <a:ext cx="1463040" cy="30175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3108960" y="4544568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6.97</a:t>
            </a: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365760" y="4846320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 txBox="1"/>
          <p:nvPr/>
        </p:nvSpPr>
        <p:spPr>
          <a:xfrm>
            <a:off x="365760" y="4846320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46.3</a:t>
            </a:r>
            <a:endParaRPr/>
          </a:p>
        </p:txBody>
      </p:sp>
      <p:sp>
        <p:nvSpPr>
          <p:cNvPr id="296" name="Google Shape;296;p4"/>
          <p:cNvSpPr/>
          <p:nvPr/>
        </p:nvSpPr>
        <p:spPr>
          <a:xfrm>
            <a:off x="1828800" y="4846320"/>
            <a:ext cx="128016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 txBox="1"/>
          <p:nvPr/>
        </p:nvSpPr>
        <p:spPr>
          <a:xfrm>
            <a:off x="1828800" y="4846320"/>
            <a:ext cx="1280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~29</a:t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3108960" y="4846320"/>
            <a:ext cx="1463040" cy="30175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 txBox="1"/>
          <p:nvPr/>
        </p:nvSpPr>
        <p:spPr>
          <a:xfrm>
            <a:off x="3108960" y="4846320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6.97</a:t>
            </a:r>
            <a:endParaRPr/>
          </a:p>
        </p:txBody>
      </p:sp>
      <p:sp>
        <p:nvSpPr>
          <p:cNvPr id="300" name="Google Shape;300;p4"/>
          <p:cNvSpPr/>
          <p:nvPr/>
        </p:nvSpPr>
        <p:spPr>
          <a:xfrm>
            <a:off x="4937760" y="1554480"/>
            <a:ext cx="6766560" cy="30632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4937760" y="4599432"/>
            <a:ext cx="6766560" cy="1828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4937760" y="1554480"/>
            <a:ext cx="18288" cy="30632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 txBox="1"/>
          <p:nvPr/>
        </p:nvSpPr>
        <p:spPr>
          <a:xfrm>
            <a:off x="6007946" y="4636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04" name="Google Shape;304;p4"/>
          <p:cNvSpPr txBox="1"/>
          <p:nvPr/>
        </p:nvSpPr>
        <p:spPr>
          <a:xfrm>
            <a:off x="7261013" y="4636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8514080" y="4636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06" name="Google Shape;306;p4"/>
          <p:cNvSpPr txBox="1"/>
          <p:nvPr/>
        </p:nvSpPr>
        <p:spPr>
          <a:xfrm>
            <a:off x="9767146" y="4636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307" name="Google Shape;307;p4"/>
          <p:cNvSpPr txBox="1"/>
          <p:nvPr/>
        </p:nvSpPr>
        <p:spPr>
          <a:xfrm>
            <a:off x="11020213" y="4636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08" name="Google Shape;308;p4"/>
          <p:cNvSpPr txBox="1"/>
          <p:nvPr/>
        </p:nvSpPr>
        <p:spPr>
          <a:xfrm>
            <a:off x="4645152" y="400659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9" name="Google Shape;309;p4"/>
          <p:cNvSpPr txBox="1"/>
          <p:nvPr/>
        </p:nvSpPr>
        <p:spPr>
          <a:xfrm>
            <a:off x="4645152" y="349605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0" name="Google Shape;310;p4"/>
          <p:cNvSpPr txBox="1"/>
          <p:nvPr/>
        </p:nvSpPr>
        <p:spPr>
          <a:xfrm>
            <a:off x="4645152" y="298551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11" name="Google Shape;311;p4"/>
          <p:cNvSpPr txBox="1"/>
          <p:nvPr/>
        </p:nvSpPr>
        <p:spPr>
          <a:xfrm>
            <a:off x="4645152" y="247497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2" name="Google Shape;312;p4"/>
          <p:cNvSpPr txBox="1"/>
          <p:nvPr/>
        </p:nvSpPr>
        <p:spPr>
          <a:xfrm>
            <a:off x="4645152" y="1964436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13" name="Google Shape;313;p4"/>
          <p:cNvSpPr txBox="1"/>
          <p:nvPr/>
        </p:nvSpPr>
        <p:spPr>
          <a:xfrm>
            <a:off x="7223760" y="483717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Time-domain RX SNR (dB)</a:t>
            </a:r>
            <a:endParaRPr/>
          </a:p>
        </p:txBody>
      </p:sp>
      <p:sp>
        <p:nvSpPr>
          <p:cNvPr id="314" name="Google Shape;314;p4"/>
          <p:cNvSpPr txBox="1"/>
          <p:nvPr/>
        </p:nvSpPr>
        <p:spPr>
          <a:xfrm>
            <a:off x="4370832" y="28575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UL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Mbps</a:t>
            </a:r>
            <a:endParaRPr/>
          </a:p>
        </p:txBody>
      </p:sp>
      <p:sp>
        <p:nvSpPr>
          <p:cNvPr id="315" name="Google Shape;315;p4"/>
          <p:cNvSpPr/>
          <p:nvPr/>
        </p:nvSpPr>
        <p:spPr>
          <a:xfrm>
            <a:off x="7589520" y="3628339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7639642" y="3514953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8366421" y="2986430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9193445" y="1994306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9970346" y="1980590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10972800" y="1980590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"/>
          <p:cNvSpPr/>
          <p:nvPr/>
        </p:nvSpPr>
        <p:spPr>
          <a:xfrm>
            <a:off x="8623808" y="1969617"/>
            <a:ext cx="146304" cy="14630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"/>
          <p:cNvSpPr/>
          <p:nvPr/>
        </p:nvSpPr>
        <p:spPr>
          <a:xfrm>
            <a:off x="5616448" y="4001414"/>
            <a:ext cx="146304" cy="14630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"/>
          <p:cNvSpPr txBox="1"/>
          <p:nvPr/>
        </p:nvSpPr>
        <p:spPr>
          <a:xfrm>
            <a:off x="5074920" y="162763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■ AGC-controlled (exact)     ■ channel-model runs (converted)</a:t>
            </a:r>
            <a:endParaRPr/>
          </a:p>
        </p:txBody>
      </p:sp>
      <p:sp>
        <p:nvSpPr>
          <p:cNvPr id="324" name="Google Shape;324;p4"/>
          <p:cNvSpPr/>
          <p:nvPr/>
        </p:nvSpPr>
        <p:spPr>
          <a:xfrm>
            <a:off x="365760" y="5285232"/>
            <a:ext cx="11430000" cy="457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"/>
          <p:cNvSpPr txBox="1"/>
          <p:nvPr/>
        </p:nvSpPr>
        <p:spPr>
          <a:xfrm>
            <a:off x="457200" y="5330952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Note:  time-domain SNR = real channel SNR.  The post-FFT (ULSCH) SNR reads ~17 dB higher from OFDM processing gain — so the channel-model runs (32–46 dB ULSCH) are shown at their true ~16–29 dB time-domain values.</a:t>
            </a:r>
            <a:endParaRPr/>
          </a:p>
        </p:txBody>
      </p:sp>
      <p:sp>
        <p:nvSpPr>
          <p:cNvPr id="326" name="Google Shape;326;p4"/>
          <p:cNvSpPr/>
          <p:nvPr/>
        </p:nvSpPr>
        <p:spPr>
          <a:xfrm>
            <a:off x="365760" y="5797296"/>
            <a:ext cx="11430000" cy="603504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"/>
          <p:cNvSpPr txBox="1"/>
          <p:nvPr/>
        </p:nvSpPr>
        <p:spPr>
          <a:xfrm>
            <a:off x="457200" y="5843016"/>
            <a:ext cx="112471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FINDING:  UL throughput tracks the real (time-domain) SNR monotonically — 20 dB → 7.0 Mbps, 8 dB → 2.9 Mbps — and jitter rises as SNR falls. The demo can sweep link quality on demand.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82c5a52a9_0_0"/>
          <p:cNvSpPr/>
          <p:nvPr/>
        </p:nvSpPr>
        <p:spPr>
          <a:xfrm>
            <a:off x="0" y="0"/>
            <a:ext cx="12191700" cy="10059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e82c5a52a9_0_0"/>
          <p:cNvSpPr txBox="1"/>
          <p:nvPr/>
        </p:nvSpPr>
        <p:spPr>
          <a:xfrm>
            <a:off x="320040" y="91440"/>
            <a:ext cx="115215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3 — MIMO Scaling &amp; Fronthaul Dimensioning</a:t>
            </a:r>
            <a:endParaRPr/>
          </a:p>
        </p:txBody>
      </p:sp>
      <p:sp>
        <p:nvSpPr>
          <p:cNvPr id="334" name="Google Shape;334;g3e82c5a52a9_0_0"/>
          <p:cNvSpPr txBox="1"/>
          <p:nvPr/>
        </p:nvSpPr>
        <p:spPr>
          <a:xfrm>
            <a:off x="320040" y="658368"/>
            <a:ext cx="11521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Add antennas (1×1 → 4×4)  ·  how does fronthaul load grow?</a:t>
            </a:r>
            <a:endParaRPr/>
          </a:p>
        </p:txBody>
      </p:sp>
      <p:sp>
        <p:nvSpPr>
          <p:cNvPr id="335" name="Google Shape;335;g3e82c5a52a9_0_0"/>
          <p:cNvSpPr/>
          <p:nvPr/>
        </p:nvSpPr>
        <p:spPr>
          <a:xfrm>
            <a:off x="365760" y="1188720"/>
            <a:ext cx="6766500" cy="274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82c5a52a9_0_0"/>
          <p:cNvSpPr txBox="1"/>
          <p:nvPr/>
        </p:nvSpPr>
        <p:spPr>
          <a:xfrm>
            <a:off x="365760" y="1188720"/>
            <a:ext cx="6766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Measured (iq9, 10 MHz, mobility channel)</a:t>
            </a:r>
            <a:endParaRPr/>
          </a:p>
        </p:txBody>
      </p:sp>
      <p:sp>
        <p:nvSpPr>
          <p:cNvPr id="337" name="Google Shape;337;g3e82c5a52a9_0_0"/>
          <p:cNvSpPr/>
          <p:nvPr/>
        </p:nvSpPr>
        <p:spPr>
          <a:xfrm>
            <a:off x="365760" y="1508760"/>
            <a:ext cx="1371600" cy="4206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82c5a52a9_0_0"/>
          <p:cNvSpPr txBox="1"/>
          <p:nvPr/>
        </p:nvSpPr>
        <p:spPr>
          <a:xfrm>
            <a:off x="365760" y="1508760"/>
            <a:ext cx="1371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Antennas</a:t>
            </a:r>
            <a:endParaRPr/>
          </a:p>
        </p:txBody>
      </p:sp>
      <p:sp>
        <p:nvSpPr>
          <p:cNvPr id="339" name="Google Shape;339;g3e82c5a52a9_0_0"/>
          <p:cNvSpPr/>
          <p:nvPr/>
        </p:nvSpPr>
        <p:spPr>
          <a:xfrm>
            <a:off x="1737360" y="1508760"/>
            <a:ext cx="2011800" cy="4206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82c5a52a9_0_0"/>
          <p:cNvSpPr txBox="1"/>
          <p:nvPr/>
        </p:nvSpPr>
        <p:spPr>
          <a:xfrm>
            <a:off x="1737360" y="1508760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FH total Mbps</a:t>
            </a:r>
            <a:endParaRPr/>
          </a:p>
        </p:txBody>
      </p:sp>
      <p:sp>
        <p:nvSpPr>
          <p:cNvPr id="341" name="Google Shape;341;g3e82c5a52a9_0_0"/>
          <p:cNvSpPr/>
          <p:nvPr/>
        </p:nvSpPr>
        <p:spPr>
          <a:xfrm>
            <a:off x="3749040" y="1508760"/>
            <a:ext cx="1463100" cy="4206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82c5a52a9_0_0"/>
          <p:cNvSpPr txBox="1"/>
          <p:nvPr/>
        </p:nvSpPr>
        <p:spPr>
          <a:xfrm>
            <a:off x="3749040" y="1508760"/>
            <a:ext cx="1463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343" name="Google Shape;343;g3e82c5a52a9_0_0"/>
          <p:cNvSpPr/>
          <p:nvPr/>
        </p:nvSpPr>
        <p:spPr>
          <a:xfrm>
            <a:off x="5212080" y="1508760"/>
            <a:ext cx="1920300" cy="4206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82c5a52a9_0_0"/>
          <p:cNvSpPr txBox="1"/>
          <p:nvPr/>
        </p:nvSpPr>
        <p:spPr>
          <a:xfrm>
            <a:off x="5212080" y="1508760"/>
            <a:ext cx="192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" spcFirstLastPara="1" rIns="254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Post-processing SNR (dB)</a:t>
            </a:r>
            <a:endParaRPr/>
          </a:p>
        </p:txBody>
      </p:sp>
      <p:sp>
        <p:nvSpPr>
          <p:cNvPr id="345" name="Google Shape;345;g3e82c5a52a9_0_0"/>
          <p:cNvSpPr/>
          <p:nvPr/>
        </p:nvSpPr>
        <p:spPr>
          <a:xfrm>
            <a:off x="365760" y="1929384"/>
            <a:ext cx="13716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82c5a52a9_0_0"/>
          <p:cNvSpPr txBox="1"/>
          <p:nvPr/>
        </p:nvSpPr>
        <p:spPr>
          <a:xfrm>
            <a:off x="365760" y="1929384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1×1</a:t>
            </a:r>
            <a:endParaRPr/>
          </a:p>
        </p:txBody>
      </p:sp>
      <p:sp>
        <p:nvSpPr>
          <p:cNvPr id="347" name="Google Shape;347;g3e82c5a52a9_0_0"/>
          <p:cNvSpPr/>
          <p:nvPr/>
        </p:nvSpPr>
        <p:spPr>
          <a:xfrm>
            <a:off x="1737360" y="1929384"/>
            <a:ext cx="20118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e82c5a52a9_0_0"/>
          <p:cNvSpPr txBox="1"/>
          <p:nvPr/>
        </p:nvSpPr>
        <p:spPr>
          <a:xfrm>
            <a:off x="1737360" y="1929384"/>
            <a:ext cx="20118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150.8</a:t>
            </a:r>
            <a:endParaRPr/>
          </a:p>
        </p:txBody>
      </p:sp>
      <p:sp>
        <p:nvSpPr>
          <p:cNvPr id="349" name="Google Shape;349;g3e82c5a52a9_0_0"/>
          <p:cNvSpPr/>
          <p:nvPr/>
        </p:nvSpPr>
        <p:spPr>
          <a:xfrm>
            <a:off x="3749040" y="1929384"/>
            <a:ext cx="14631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82c5a52a9_0_0"/>
          <p:cNvSpPr txBox="1"/>
          <p:nvPr/>
        </p:nvSpPr>
        <p:spPr>
          <a:xfrm>
            <a:off x="3749040" y="1929384"/>
            <a:ext cx="14631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6.999</a:t>
            </a:r>
            <a:endParaRPr/>
          </a:p>
        </p:txBody>
      </p:sp>
      <p:sp>
        <p:nvSpPr>
          <p:cNvPr id="351" name="Google Shape;351;g3e82c5a52a9_0_0"/>
          <p:cNvSpPr/>
          <p:nvPr/>
        </p:nvSpPr>
        <p:spPr>
          <a:xfrm>
            <a:off x="5212080" y="1929384"/>
            <a:ext cx="19203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82c5a52a9_0_0"/>
          <p:cNvSpPr txBox="1"/>
          <p:nvPr/>
        </p:nvSpPr>
        <p:spPr>
          <a:xfrm>
            <a:off x="5212080" y="1929384"/>
            <a:ext cx="1920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38.8</a:t>
            </a:r>
            <a:endParaRPr/>
          </a:p>
        </p:txBody>
      </p:sp>
      <p:sp>
        <p:nvSpPr>
          <p:cNvPr id="353" name="Google Shape;353;g3e82c5a52a9_0_0"/>
          <p:cNvSpPr/>
          <p:nvPr/>
        </p:nvSpPr>
        <p:spPr>
          <a:xfrm>
            <a:off x="365760" y="2350008"/>
            <a:ext cx="1371600" cy="4206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82c5a52a9_0_0"/>
          <p:cNvSpPr txBox="1"/>
          <p:nvPr/>
        </p:nvSpPr>
        <p:spPr>
          <a:xfrm>
            <a:off x="365760" y="2350008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2×2</a:t>
            </a:r>
            <a:endParaRPr/>
          </a:p>
        </p:txBody>
      </p:sp>
      <p:sp>
        <p:nvSpPr>
          <p:cNvPr id="355" name="Google Shape;355;g3e82c5a52a9_0_0"/>
          <p:cNvSpPr/>
          <p:nvPr/>
        </p:nvSpPr>
        <p:spPr>
          <a:xfrm>
            <a:off x="1737360" y="2350008"/>
            <a:ext cx="2011800" cy="4206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82c5a52a9_0_0"/>
          <p:cNvSpPr txBox="1"/>
          <p:nvPr/>
        </p:nvSpPr>
        <p:spPr>
          <a:xfrm>
            <a:off x="1737360" y="2350008"/>
            <a:ext cx="20118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301.5</a:t>
            </a:r>
            <a:endParaRPr/>
          </a:p>
        </p:txBody>
      </p:sp>
      <p:sp>
        <p:nvSpPr>
          <p:cNvPr id="357" name="Google Shape;357;g3e82c5a52a9_0_0"/>
          <p:cNvSpPr/>
          <p:nvPr/>
        </p:nvSpPr>
        <p:spPr>
          <a:xfrm>
            <a:off x="3749040" y="2350008"/>
            <a:ext cx="1463100" cy="4206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82c5a52a9_0_0"/>
          <p:cNvSpPr txBox="1"/>
          <p:nvPr/>
        </p:nvSpPr>
        <p:spPr>
          <a:xfrm>
            <a:off x="3749040" y="2350008"/>
            <a:ext cx="14631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6.97</a:t>
            </a:r>
            <a:endParaRPr/>
          </a:p>
        </p:txBody>
      </p:sp>
      <p:sp>
        <p:nvSpPr>
          <p:cNvPr id="359" name="Google Shape;359;g3e82c5a52a9_0_0"/>
          <p:cNvSpPr/>
          <p:nvPr/>
        </p:nvSpPr>
        <p:spPr>
          <a:xfrm>
            <a:off x="5212080" y="2350008"/>
            <a:ext cx="1920300" cy="4206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82c5a52a9_0_0"/>
          <p:cNvSpPr txBox="1"/>
          <p:nvPr/>
        </p:nvSpPr>
        <p:spPr>
          <a:xfrm>
            <a:off x="5212080" y="2350008"/>
            <a:ext cx="1920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42.5</a:t>
            </a:r>
            <a:endParaRPr/>
          </a:p>
        </p:txBody>
      </p:sp>
      <p:sp>
        <p:nvSpPr>
          <p:cNvPr id="361" name="Google Shape;361;g3e82c5a52a9_0_0"/>
          <p:cNvSpPr/>
          <p:nvPr/>
        </p:nvSpPr>
        <p:spPr>
          <a:xfrm>
            <a:off x="365760" y="2770632"/>
            <a:ext cx="13716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82c5a52a9_0_0"/>
          <p:cNvSpPr txBox="1"/>
          <p:nvPr/>
        </p:nvSpPr>
        <p:spPr>
          <a:xfrm>
            <a:off x="365760" y="2770632"/>
            <a:ext cx="1371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4×4</a:t>
            </a:r>
            <a:endParaRPr/>
          </a:p>
        </p:txBody>
      </p:sp>
      <p:sp>
        <p:nvSpPr>
          <p:cNvPr id="363" name="Google Shape;363;g3e82c5a52a9_0_0"/>
          <p:cNvSpPr/>
          <p:nvPr/>
        </p:nvSpPr>
        <p:spPr>
          <a:xfrm>
            <a:off x="1737360" y="2770632"/>
            <a:ext cx="20118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e82c5a52a9_0_0"/>
          <p:cNvSpPr txBox="1"/>
          <p:nvPr/>
        </p:nvSpPr>
        <p:spPr>
          <a:xfrm>
            <a:off x="1737360" y="2770632"/>
            <a:ext cx="20118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1016.1</a:t>
            </a:r>
            <a:endParaRPr/>
          </a:p>
        </p:txBody>
      </p:sp>
      <p:sp>
        <p:nvSpPr>
          <p:cNvPr id="365" name="Google Shape;365;g3e82c5a52a9_0_0"/>
          <p:cNvSpPr/>
          <p:nvPr/>
        </p:nvSpPr>
        <p:spPr>
          <a:xfrm>
            <a:off x="3749040" y="2770632"/>
            <a:ext cx="14631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e82c5a52a9_0_0"/>
          <p:cNvSpPr txBox="1"/>
          <p:nvPr/>
        </p:nvSpPr>
        <p:spPr>
          <a:xfrm>
            <a:off x="3749040" y="2770632"/>
            <a:ext cx="14631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6.997</a:t>
            </a:r>
            <a:endParaRPr/>
          </a:p>
        </p:txBody>
      </p:sp>
      <p:sp>
        <p:nvSpPr>
          <p:cNvPr id="367" name="Google Shape;367;g3e82c5a52a9_0_0"/>
          <p:cNvSpPr/>
          <p:nvPr/>
        </p:nvSpPr>
        <p:spPr>
          <a:xfrm>
            <a:off x="5212080" y="2770632"/>
            <a:ext cx="1920300" cy="4206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82c5a52a9_0_0"/>
          <p:cNvSpPr txBox="1"/>
          <p:nvPr/>
        </p:nvSpPr>
        <p:spPr>
          <a:xfrm>
            <a:off x="5212080" y="2770632"/>
            <a:ext cx="1920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44.2</a:t>
            </a:r>
            <a:endParaRPr/>
          </a:p>
        </p:txBody>
      </p:sp>
      <p:sp>
        <p:nvSpPr>
          <p:cNvPr id="369" name="Google Shape;369;g3e82c5a52a9_0_0"/>
          <p:cNvSpPr/>
          <p:nvPr/>
        </p:nvSpPr>
        <p:spPr>
          <a:xfrm>
            <a:off x="365760" y="3200400"/>
            <a:ext cx="6766500" cy="274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e82c5a52a9_0_0"/>
          <p:cNvSpPr txBox="1"/>
          <p:nvPr/>
        </p:nvSpPr>
        <p:spPr>
          <a:xfrm>
            <a:off x="365760" y="3200400"/>
            <a:ext cx="6766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Fronthaul total load (Mbps) scales with antenna count</a:t>
            </a:r>
            <a:endParaRPr/>
          </a:p>
        </p:txBody>
      </p:sp>
      <p:sp>
        <p:nvSpPr>
          <p:cNvPr id="371" name="Google Shape;371;g3e82c5a52a9_0_0"/>
          <p:cNvSpPr/>
          <p:nvPr/>
        </p:nvSpPr>
        <p:spPr>
          <a:xfrm>
            <a:off x="457200" y="5806440"/>
            <a:ext cx="6400800" cy="183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e82c5a52a9_0_0"/>
          <p:cNvSpPr txBox="1"/>
          <p:nvPr/>
        </p:nvSpPr>
        <p:spPr>
          <a:xfrm>
            <a:off x="411480" y="3547872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FH Mbps</a:t>
            </a:r>
            <a:endParaRPr/>
          </a:p>
        </p:txBody>
      </p:sp>
      <p:sp>
        <p:nvSpPr>
          <p:cNvPr id="373" name="Google Shape;373;g3e82c5a52a9_0_0"/>
          <p:cNvSpPr/>
          <p:nvPr/>
        </p:nvSpPr>
        <p:spPr>
          <a:xfrm>
            <a:off x="1021080" y="5530656"/>
            <a:ext cx="1005900" cy="2757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82c5a52a9_0_0"/>
          <p:cNvSpPr txBox="1"/>
          <p:nvPr/>
        </p:nvSpPr>
        <p:spPr>
          <a:xfrm>
            <a:off x="883920" y="5311200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151</a:t>
            </a:r>
            <a:endParaRPr/>
          </a:p>
        </p:txBody>
      </p:sp>
      <p:sp>
        <p:nvSpPr>
          <p:cNvPr id="375" name="Google Shape;375;g3e82c5a52a9_0_0"/>
          <p:cNvSpPr txBox="1"/>
          <p:nvPr/>
        </p:nvSpPr>
        <p:spPr>
          <a:xfrm>
            <a:off x="457200" y="5833872"/>
            <a:ext cx="2133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1×1</a:t>
            </a:r>
            <a:endParaRPr/>
          </a:p>
        </p:txBody>
      </p:sp>
      <p:sp>
        <p:nvSpPr>
          <p:cNvPr id="376" name="Google Shape;376;g3e82c5a52a9_0_0"/>
          <p:cNvSpPr/>
          <p:nvPr/>
        </p:nvSpPr>
        <p:spPr>
          <a:xfrm>
            <a:off x="3154680" y="5255056"/>
            <a:ext cx="1005900" cy="551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82c5a52a9_0_0"/>
          <p:cNvSpPr txBox="1"/>
          <p:nvPr/>
        </p:nvSpPr>
        <p:spPr>
          <a:xfrm>
            <a:off x="3017520" y="5035600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302</a:t>
            </a:r>
            <a:endParaRPr/>
          </a:p>
        </p:txBody>
      </p:sp>
      <p:sp>
        <p:nvSpPr>
          <p:cNvPr id="378" name="Google Shape;378;g3e82c5a52a9_0_0"/>
          <p:cNvSpPr txBox="1"/>
          <p:nvPr/>
        </p:nvSpPr>
        <p:spPr>
          <a:xfrm>
            <a:off x="2590800" y="5833872"/>
            <a:ext cx="2133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2×2</a:t>
            </a:r>
            <a:endParaRPr/>
          </a:p>
        </p:txBody>
      </p:sp>
      <p:sp>
        <p:nvSpPr>
          <p:cNvPr id="379" name="Google Shape;379;g3e82c5a52a9_0_0"/>
          <p:cNvSpPr/>
          <p:nvPr/>
        </p:nvSpPr>
        <p:spPr>
          <a:xfrm>
            <a:off x="5288280" y="3948196"/>
            <a:ext cx="1005900" cy="1858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82c5a52a9_0_0"/>
          <p:cNvSpPr txBox="1"/>
          <p:nvPr/>
        </p:nvSpPr>
        <p:spPr>
          <a:xfrm>
            <a:off x="5151120" y="3728740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1016</a:t>
            </a:r>
            <a:endParaRPr/>
          </a:p>
        </p:txBody>
      </p:sp>
      <p:sp>
        <p:nvSpPr>
          <p:cNvPr id="381" name="Google Shape;381;g3e82c5a52a9_0_0"/>
          <p:cNvSpPr txBox="1"/>
          <p:nvPr/>
        </p:nvSpPr>
        <p:spPr>
          <a:xfrm>
            <a:off x="4724400" y="5833872"/>
            <a:ext cx="21336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4×4</a:t>
            </a:r>
            <a:endParaRPr/>
          </a:p>
        </p:txBody>
      </p:sp>
      <p:sp>
        <p:nvSpPr>
          <p:cNvPr id="382" name="Google Shape;382;g3e82c5a52a9_0_0"/>
          <p:cNvSpPr/>
          <p:nvPr/>
        </p:nvSpPr>
        <p:spPr>
          <a:xfrm>
            <a:off x="7406640" y="1508760"/>
            <a:ext cx="4389000" cy="16917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82c5a52a9_0_0"/>
          <p:cNvSpPr txBox="1"/>
          <p:nvPr/>
        </p:nvSpPr>
        <p:spPr>
          <a:xfrm>
            <a:off x="7498080" y="1554480"/>
            <a:ext cx="42063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Fronthaul load scales ~linearly with antennas: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1×1 → 2×2 → 4×4  =  151 → 302 → 1016 Mbps.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Useful for dimensioning the FH link for a target MIMO order.</a:t>
            </a:r>
            <a:endParaRPr/>
          </a:p>
        </p:txBody>
      </p:sp>
      <p:sp>
        <p:nvSpPr>
          <p:cNvPr id="384" name="Google Shape;384;g3e82c5a52a9_0_0"/>
          <p:cNvSpPr/>
          <p:nvPr/>
        </p:nvSpPr>
        <p:spPr>
          <a:xfrm>
            <a:off x="7406640" y="3337560"/>
            <a:ext cx="4389000" cy="12801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82c5a52a9_0_0"/>
          <p:cNvSpPr txBox="1"/>
          <p:nvPr/>
        </p:nvSpPr>
        <p:spPr>
          <a:xfrm>
            <a:off x="7498080" y="3383280"/>
            <a:ext cx="42063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UL goodput stays ~7 Mbps across all configs — at this bandwidth the air scheduler, not the fronthaul, sets the rate.</a:t>
            </a:r>
            <a:endParaRPr/>
          </a:p>
        </p:txBody>
      </p:sp>
      <p:sp>
        <p:nvSpPr>
          <p:cNvPr id="386" name="Google Shape;386;g3e82c5a52a9_0_0"/>
          <p:cNvSpPr/>
          <p:nvPr/>
        </p:nvSpPr>
        <p:spPr>
          <a:xfrm>
            <a:off x="7406640" y="4754880"/>
            <a:ext cx="4389000" cy="114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82c5a52a9_0_0"/>
          <p:cNvSpPr txBox="1"/>
          <p:nvPr/>
        </p:nvSpPr>
        <p:spPr>
          <a:xfrm>
            <a:off x="7498080" y="4800600"/>
            <a:ext cx="42063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4×4 real-time channel emulation is compute-heavy on a single host — it works but is near the box's CPU limit.</a:t>
            </a:r>
            <a:endParaRPr/>
          </a:p>
        </p:txBody>
      </p:sp>
      <p:cxnSp>
        <p:nvCxnSpPr>
          <p:cNvPr id="388" name="Google Shape;388;g3e82c5a52a9_0_0"/>
          <p:cNvCxnSpPr/>
          <p:nvPr/>
        </p:nvCxnSpPr>
        <p:spPr>
          <a:xfrm flipH="1" rot="10800000">
            <a:off x="1524304" y="4297620"/>
            <a:ext cx="2133300" cy="91500"/>
          </a:xfrm>
          <a:prstGeom prst="straightConnector1">
            <a:avLst/>
          </a:prstGeom>
          <a:noFill/>
          <a:ln cap="flat" cmpd="sng" w="2857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89" name="Google Shape;389;g3e82c5a52a9_0_0"/>
          <p:cNvCxnSpPr/>
          <p:nvPr/>
        </p:nvCxnSpPr>
        <p:spPr>
          <a:xfrm flipH="1" rot="10800000">
            <a:off x="3657600" y="4224480"/>
            <a:ext cx="2133300" cy="73200"/>
          </a:xfrm>
          <a:prstGeom prst="straightConnector1">
            <a:avLst/>
          </a:prstGeom>
          <a:noFill/>
          <a:ln cap="flat" cmpd="sng" w="2857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90" name="Google Shape;390;g3e82c5a52a9_0_0"/>
          <p:cNvSpPr/>
          <p:nvPr/>
        </p:nvSpPr>
        <p:spPr>
          <a:xfrm>
            <a:off x="1460296" y="4325112"/>
            <a:ext cx="128100" cy="128100"/>
          </a:xfrm>
          <a:prstGeom prst="ellipse">
            <a:avLst/>
          </a:prstGeom>
          <a:solidFill>
            <a:srgbClr val="3786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82c5a52a9_0_0"/>
          <p:cNvSpPr/>
          <p:nvPr/>
        </p:nvSpPr>
        <p:spPr>
          <a:xfrm>
            <a:off x="3593592" y="4233672"/>
            <a:ext cx="128100" cy="128100"/>
          </a:xfrm>
          <a:prstGeom prst="ellipse">
            <a:avLst/>
          </a:prstGeom>
          <a:solidFill>
            <a:srgbClr val="3786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82c5a52a9_0_0"/>
          <p:cNvSpPr/>
          <p:nvPr/>
        </p:nvSpPr>
        <p:spPr>
          <a:xfrm>
            <a:off x="5726887" y="4160520"/>
            <a:ext cx="128100" cy="128100"/>
          </a:xfrm>
          <a:prstGeom prst="ellipse">
            <a:avLst/>
          </a:prstGeom>
          <a:solidFill>
            <a:srgbClr val="3786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82c5a52a9_0_0"/>
          <p:cNvSpPr txBox="1"/>
          <p:nvPr/>
        </p:nvSpPr>
        <p:spPr>
          <a:xfrm>
            <a:off x="1188720" y="4114800"/>
            <a:ext cx="77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38.8</a:t>
            </a:r>
            <a:endParaRPr/>
          </a:p>
        </p:txBody>
      </p:sp>
      <p:sp>
        <p:nvSpPr>
          <p:cNvPr id="394" name="Google Shape;394;g3e82c5a52a9_0_0"/>
          <p:cNvSpPr txBox="1"/>
          <p:nvPr/>
        </p:nvSpPr>
        <p:spPr>
          <a:xfrm>
            <a:off x="3319272" y="4023360"/>
            <a:ext cx="77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42.5</a:t>
            </a:r>
            <a:endParaRPr/>
          </a:p>
        </p:txBody>
      </p:sp>
      <p:sp>
        <p:nvSpPr>
          <p:cNvPr id="395" name="Google Shape;395;g3e82c5a52a9_0_0"/>
          <p:cNvSpPr txBox="1"/>
          <p:nvPr/>
        </p:nvSpPr>
        <p:spPr>
          <a:xfrm>
            <a:off x="6355080" y="4114800"/>
            <a:ext cx="77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44.2</a:t>
            </a:r>
            <a:endParaRPr/>
          </a:p>
        </p:txBody>
      </p:sp>
      <p:sp>
        <p:nvSpPr>
          <p:cNvPr id="396" name="Google Shape;396;g3e82c5a52a9_0_0"/>
          <p:cNvSpPr txBox="1"/>
          <p:nvPr/>
        </p:nvSpPr>
        <p:spPr>
          <a:xfrm>
            <a:off x="457200" y="3657600"/>
            <a:ext cx="4572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● Post-processing SNR (dB) — rises with RX combining gain</a:t>
            </a:r>
            <a:endParaRPr/>
          </a:p>
        </p:txBody>
      </p:sp>
      <p:sp>
        <p:nvSpPr>
          <p:cNvPr id="397" name="Google Shape;397;g3e82c5a52a9_0_0"/>
          <p:cNvSpPr/>
          <p:nvPr/>
        </p:nvSpPr>
        <p:spPr>
          <a:xfrm>
            <a:off x="502920" y="4572000"/>
            <a:ext cx="4663500" cy="6036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A9D0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Theoretical RX-combining gain ≈ +3 dB per antenna doubling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→ +0 / +3 / +6 dB (1×1 / 2×2 / 4×4)   ·   measured +0 / +3.7 / +5.4 dB ✓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82c5a52a9_0_259"/>
          <p:cNvSpPr/>
          <p:nvPr/>
        </p:nvSpPr>
        <p:spPr>
          <a:xfrm>
            <a:off x="0" y="0"/>
            <a:ext cx="12191700" cy="10059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82c5a52a9_0_259"/>
          <p:cNvSpPr txBox="1"/>
          <p:nvPr/>
        </p:nvSpPr>
        <p:spPr>
          <a:xfrm>
            <a:off x="320040" y="91440"/>
            <a:ext cx="115215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4 — Fronthaul Timing Budget Sensitivity</a:t>
            </a:r>
            <a:endParaRPr/>
          </a:p>
        </p:txBody>
      </p:sp>
      <p:sp>
        <p:nvSpPr>
          <p:cNvPr id="404" name="Google Shape;404;g3e82c5a52a9_0_259"/>
          <p:cNvSpPr txBox="1"/>
          <p:nvPr/>
        </p:nvSpPr>
        <p:spPr>
          <a:xfrm>
            <a:off x="320040" y="658368"/>
            <a:ext cx="11521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Tighten the O-RU downlink U-plane reception window — O-RAN T2a  ·  when does the link break?</a:t>
            </a:r>
            <a:endParaRPr/>
          </a:p>
        </p:txBody>
      </p:sp>
      <p:sp>
        <p:nvSpPr>
          <p:cNvPr id="405" name="Google Shape;405;g3e82c5a52a9_0_259"/>
          <p:cNvSpPr/>
          <p:nvPr/>
        </p:nvSpPr>
        <p:spPr>
          <a:xfrm>
            <a:off x="365760" y="1188720"/>
            <a:ext cx="6766500" cy="274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82c5a52a9_0_259"/>
          <p:cNvSpPr txBox="1"/>
          <p:nvPr/>
        </p:nvSpPr>
        <p:spPr>
          <a:xfrm>
            <a:off x="365760" y="1188720"/>
            <a:ext cx="6766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Measured (2×2, iq9) — tightening the FH delivery deadline</a:t>
            </a:r>
            <a:endParaRPr/>
          </a:p>
        </p:txBody>
      </p:sp>
      <p:sp>
        <p:nvSpPr>
          <p:cNvPr id="407" name="Google Shape;407;g3e82c5a52a9_0_259"/>
          <p:cNvSpPr/>
          <p:nvPr/>
        </p:nvSpPr>
        <p:spPr>
          <a:xfrm>
            <a:off x="365760" y="1481328"/>
            <a:ext cx="1737300" cy="3657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82c5a52a9_0_259"/>
          <p:cNvSpPr txBox="1"/>
          <p:nvPr/>
        </p:nvSpPr>
        <p:spPr>
          <a:xfrm>
            <a:off x="365760" y="148132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FH window · T2a_min (µs)</a:t>
            </a:r>
            <a:endParaRPr/>
          </a:p>
        </p:txBody>
      </p:sp>
      <p:sp>
        <p:nvSpPr>
          <p:cNvPr id="409" name="Google Shape;409;g3e82c5a52a9_0_259"/>
          <p:cNvSpPr/>
          <p:nvPr/>
        </p:nvSpPr>
        <p:spPr>
          <a:xfrm>
            <a:off x="2103120" y="1481328"/>
            <a:ext cx="2011800" cy="3657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82c5a52a9_0_259"/>
          <p:cNvSpPr txBox="1"/>
          <p:nvPr/>
        </p:nvSpPr>
        <p:spPr>
          <a:xfrm>
            <a:off x="2103120" y="148132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Packets dropped</a:t>
            </a:r>
            <a:endParaRPr/>
          </a:p>
        </p:txBody>
      </p:sp>
      <p:sp>
        <p:nvSpPr>
          <p:cNvPr id="411" name="Google Shape;411;g3e82c5a52a9_0_259"/>
          <p:cNvSpPr/>
          <p:nvPr/>
        </p:nvSpPr>
        <p:spPr>
          <a:xfrm>
            <a:off x="4114800" y="1481328"/>
            <a:ext cx="1280100" cy="3657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82c5a52a9_0_259"/>
          <p:cNvSpPr txBox="1"/>
          <p:nvPr/>
        </p:nvSpPr>
        <p:spPr>
          <a:xfrm>
            <a:off x="4114800" y="148132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413" name="Google Shape;413;g3e82c5a52a9_0_259"/>
          <p:cNvSpPr/>
          <p:nvPr/>
        </p:nvSpPr>
        <p:spPr>
          <a:xfrm>
            <a:off x="5394960" y="1481328"/>
            <a:ext cx="1737300" cy="3657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82c5a52a9_0_259"/>
          <p:cNvSpPr txBox="1"/>
          <p:nvPr/>
        </p:nvSpPr>
        <p:spPr>
          <a:xfrm>
            <a:off x="5394960" y="148132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415" name="Google Shape;415;g3e82c5a52a9_0_259"/>
          <p:cNvSpPr/>
          <p:nvPr/>
        </p:nvSpPr>
        <p:spPr>
          <a:xfrm>
            <a:off x="365760" y="1847088"/>
            <a:ext cx="17373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82c5a52a9_0_259"/>
          <p:cNvSpPr txBox="1"/>
          <p:nvPr/>
        </p:nvSpPr>
        <p:spPr>
          <a:xfrm>
            <a:off x="365760" y="184708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200 – 300</a:t>
            </a:r>
            <a:endParaRPr/>
          </a:p>
        </p:txBody>
      </p:sp>
      <p:sp>
        <p:nvSpPr>
          <p:cNvPr id="417" name="Google Shape;417;g3e82c5a52a9_0_259"/>
          <p:cNvSpPr/>
          <p:nvPr/>
        </p:nvSpPr>
        <p:spPr>
          <a:xfrm>
            <a:off x="2103120" y="1847088"/>
            <a:ext cx="20118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82c5a52a9_0_259"/>
          <p:cNvSpPr txBox="1"/>
          <p:nvPr/>
        </p:nvSpPr>
        <p:spPr>
          <a:xfrm>
            <a:off x="2103120" y="184708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9" name="Google Shape;419;g3e82c5a52a9_0_259"/>
          <p:cNvSpPr/>
          <p:nvPr/>
        </p:nvSpPr>
        <p:spPr>
          <a:xfrm>
            <a:off x="4114800" y="1847088"/>
            <a:ext cx="12801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82c5a52a9_0_259"/>
          <p:cNvSpPr txBox="1"/>
          <p:nvPr/>
        </p:nvSpPr>
        <p:spPr>
          <a:xfrm>
            <a:off x="4114800" y="184708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~7.0</a:t>
            </a:r>
            <a:endParaRPr/>
          </a:p>
        </p:txBody>
      </p:sp>
      <p:sp>
        <p:nvSpPr>
          <p:cNvPr id="421" name="Google Shape;421;g3e82c5a52a9_0_259"/>
          <p:cNvSpPr/>
          <p:nvPr/>
        </p:nvSpPr>
        <p:spPr>
          <a:xfrm>
            <a:off x="5394960" y="1847088"/>
            <a:ext cx="17373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82c5a52a9_0_259"/>
          <p:cNvSpPr txBox="1"/>
          <p:nvPr/>
        </p:nvSpPr>
        <p:spPr>
          <a:xfrm>
            <a:off x="5394960" y="184708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clean · BASELINE</a:t>
            </a:r>
            <a:endParaRPr/>
          </a:p>
        </p:txBody>
      </p:sp>
      <p:sp>
        <p:nvSpPr>
          <p:cNvPr id="423" name="Google Shape;423;g3e82c5a52a9_0_259"/>
          <p:cNvSpPr/>
          <p:nvPr/>
        </p:nvSpPr>
        <p:spPr>
          <a:xfrm>
            <a:off x="365760" y="2212848"/>
            <a:ext cx="17373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e82c5a52a9_0_259"/>
          <p:cNvSpPr txBox="1"/>
          <p:nvPr/>
        </p:nvSpPr>
        <p:spPr>
          <a:xfrm>
            <a:off x="365760" y="221284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425" name="Google Shape;425;g3e82c5a52a9_0_259"/>
          <p:cNvSpPr/>
          <p:nvPr/>
        </p:nvSpPr>
        <p:spPr>
          <a:xfrm>
            <a:off x="2103120" y="2212848"/>
            <a:ext cx="20118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82c5a52a9_0_259"/>
          <p:cNvSpPr txBox="1"/>
          <p:nvPr/>
        </p:nvSpPr>
        <p:spPr>
          <a:xfrm>
            <a:off x="2103120" y="221284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~8</a:t>
            </a:r>
            <a:endParaRPr/>
          </a:p>
        </p:txBody>
      </p:sp>
      <p:sp>
        <p:nvSpPr>
          <p:cNvPr id="427" name="Google Shape;427;g3e82c5a52a9_0_259"/>
          <p:cNvSpPr/>
          <p:nvPr/>
        </p:nvSpPr>
        <p:spPr>
          <a:xfrm>
            <a:off x="4114800" y="2212848"/>
            <a:ext cx="12801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82c5a52a9_0_259"/>
          <p:cNvSpPr txBox="1"/>
          <p:nvPr/>
        </p:nvSpPr>
        <p:spPr>
          <a:xfrm>
            <a:off x="4114800" y="221284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6.6</a:t>
            </a:r>
            <a:endParaRPr/>
          </a:p>
        </p:txBody>
      </p:sp>
      <p:sp>
        <p:nvSpPr>
          <p:cNvPr id="429" name="Google Shape;429;g3e82c5a52a9_0_259"/>
          <p:cNvSpPr/>
          <p:nvPr/>
        </p:nvSpPr>
        <p:spPr>
          <a:xfrm>
            <a:off x="5394960" y="2212848"/>
            <a:ext cx="17373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82c5a52a9_0_259"/>
          <p:cNvSpPr txBox="1"/>
          <p:nvPr/>
        </p:nvSpPr>
        <p:spPr>
          <a:xfrm>
            <a:off x="5394960" y="221284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first drops</a:t>
            </a:r>
            <a:endParaRPr/>
          </a:p>
        </p:txBody>
      </p:sp>
      <p:sp>
        <p:nvSpPr>
          <p:cNvPr id="431" name="Google Shape;431;g3e82c5a52a9_0_259"/>
          <p:cNvSpPr/>
          <p:nvPr/>
        </p:nvSpPr>
        <p:spPr>
          <a:xfrm>
            <a:off x="365760" y="2578608"/>
            <a:ext cx="17373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e82c5a52a9_0_259"/>
          <p:cNvSpPr txBox="1"/>
          <p:nvPr/>
        </p:nvSpPr>
        <p:spPr>
          <a:xfrm>
            <a:off x="365760" y="257860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/>
          </a:p>
        </p:txBody>
      </p:sp>
      <p:sp>
        <p:nvSpPr>
          <p:cNvPr id="433" name="Google Shape;433;g3e82c5a52a9_0_259"/>
          <p:cNvSpPr/>
          <p:nvPr/>
        </p:nvSpPr>
        <p:spPr>
          <a:xfrm>
            <a:off x="2103120" y="2578608"/>
            <a:ext cx="2011800" cy="365700"/>
          </a:xfrm>
          <a:prstGeom prst="rect">
            <a:avLst/>
          </a:prstGeom>
          <a:solidFill>
            <a:srgbClr val="FCE4D6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82c5a52a9_0_259"/>
          <p:cNvSpPr txBox="1"/>
          <p:nvPr/>
        </p:nvSpPr>
        <p:spPr>
          <a:xfrm>
            <a:off x="2103120" y="257860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~120</a:t>
            </a:r>
            <a:endParaRPr/>
          </a:p>
        </p:txBody>
      </p:sp>
      <p:sp>
        <p:nvSpPr>
          <p:cNvPr id="435" name="Google Shape;435;g3e82c5a52a9_0_259"/>
          <p:cNvSpPr/>
          <p:nvPr/>
        </p:nvSpPr>
        <p:spPr>
          <a:xfrm>
            <a:off x="4114800" y="2578608"/>
            <a:ext cx="12801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82c5a52a9_0_259"/>
          <p:cNvSpPr txBox="1"/>
          <p:nvPr/>
        </p:nvSpPr>
        <p:spPr>
          <a:xfrm>
            <a:off x="4114800" y="257860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5.6</a:t>
            </a:r>
            <a:endParaRPr/>
          </a:p>
        </p:txBody>
      </p:sp>
      <p:sp>
        <p:nvSpPr>
          <p:cNvPr id="437" name="Google Shape;437;g3e82c5a52a9_0_259"/>
          <p:cNvSpPr/>
          <p:nvPr/>
        </p:nvSpPr>
        <p:spPr>
          <a:xfrm>
            <a:off x="5394960" y="2578608"/>
            <a:ext cx="17373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e82c5a52a9_0_259"/>
          <p:cNvSpPr txBox="1"/>
          <p:nvPr/>
        </p:nvSpPr>
        <p:spPr>
          <a:xfrm>
            <a:off x="5394960" y="257860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knee</a:t>
            </a:r>
            <a:endParaRPr/>
          </a:p>
        </p:txBody>
      </p:sp>
      <p:sp>
        <p:nvSpPr>
          <p:cNvPr id="439" name="Google Shape;439;g3e82c5a52a9_0_259"/>
          <p:cNvSpPr/>
          <p:nvPr/>
        </p:nvSpPr>
        <p:spPr>
          <a:xfrm>
            <a:off x="365760" y="2944368"/>
            <a:ext cx="17373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82c5a52a9_0_259"/>
          <p:cNvSpPr txBox="1"/>
          <p:nvPr/>
        </p:nvSpPr>
        <p:spPr>
          <a:xfrm>
            <a:off x="365760" y="294436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441" name="Google Shape;441;g3e82c5a52a9_0_259"/>
          <p:cNvSpPr/>
          <p:nvPr/>
        </p:nvSpPr>
        <p:spPr>
          <a:xfrm>
            <a:off x="2103120" y="2944368"/>
            <a:ext cx="2011800" cy="365700"/>
          </a:xfrm>
          <a:prstGeom prst="rect">
            <a:avLst/>
          </a:prstGeom>
          <a:solidFill>
            <a:srgbClr val="F8CBCB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82c5a52a9_0_259"/>
          <p:cNvSpPr txBox="1"/>
          <p:nvPr/>
        </p:nvSpPr>
        <p:spPr>
          <a:xfrm>
            <a:off x="2103120" y="294436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~130,000</a:t>
            </a:r>
            <a:endParaRPr/>
          </a:p>
        </p:txBody>
      </p:sp>
      <p:sp>
        <p:nvSpPr>
          <p:cNvPr id="443" name="Google Shape;443;g3e82c5a52a9_0_259"/>
          <p:cNvSpPr/>
          <p:nvPr/>
        </p:nvSpPr>
        <p:spPr>
          <a:xfrm>
            <a:off x="4114800" y="2944368"/>
            <a:ext cx="1280100" cy="3657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e82c5a52a9_0_259"/>
          <p:cNvSpPr txBox="1"/>
          <p:nvPr/>
        </p:nvSpPr>
        <p:spPr>
          <a:xfrm>
            <a:off x="4114800" y="294436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3.5</a:t>
            </a:r>
            <a:endParaRPr/>
          </a:p>
        </p:txBody>
      </p:sp>
      <p:sp>
        <p:nvSpPr>
          <p:cNvPr id="445" name="Google Shape;445;g3e82c5a52a9_0_259"/>
          <p:cNvSpPr/>
          <p:nvPr/>
        </p:nvSpPr>
        <p:spPr>
          <a:xfrm>
            <a:off x="5394960" y="2944368"/>
            <a:ext cx="1737300" cy="365700"/>
          </a:xfrm>
          <a:prstGeom prst="rect">
            <a:avLst/>
          </a:prstGeom>
          <a:solidFill>
            <a:srgbClr val="F8CBCB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82c5a52a9_0_259"/>
          <p:cNvSpPr txBox="1"/>
          <p:nvPr/>
        </p:nvSpPr>
        <p:spPr>
          <a:xfrm>
            <a:off x="5394960" y="294436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degraded</a:t>
            </a:r>
            <a:endParaRPr/>
          </a:p>
        </p:txBody>
      </p:sp>
      <p:sp>
        <p:nvSpPr>
          <p:cNvPr id="447" name="Google Shape;447;g3e82c5a52a9_0_259"/>
          <p:cNvSpPr/>
          <p:nvPr/>
        </p:nvSpPr>
        <p:spPr>
          <a:xfrm>
            <a:off x="365760" y="3310128"/>
            <a:ext cx="17373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82c5a52a9_0_259"/>
          <p:cNvSpPr txBox="1"/>
          <p:nvPr/>
        </p:nvSpPr>
        <p:spPr>
          <a:xfrm>
            <a:off x="365760" y="331012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≥ 600</a:t>
            </a:r>
            <a:endParaRPr/>
          </a:p>
        </p:txBody>
      </p:sp>
      <p:sp>
        <p:nvSpPr>
          <p:cNvPr id="449" name="Google Shape;449;g3e82c5a52a9_0_259"/>
          <p:cNvSpPr/>
          <p:nvPr/>
        </p:nvSpPr>
        <p:spPr>
          <a:xfrm>
            <a:off x="2103120" y="3310128"/>
            <a:ext cx="20118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82c5a52a9_0_259"/>
          <p:cNvSpPr txBox="1"/>
          <p:nvPr/>
        </p:nvSpPr>
        <p:spPr>
          <a:xfrm>
            <a:off x="2103120" y="3310128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very high</a:t>
            </a:r>
            <a:endParaRPr/>
          </a:p>
        </p:txBody>
      </p:sp>
      <p:sp>
        <p:nvSpPr>
          <p:cNvPr id="451" name="Google Shape;451;g3e82c5a52a9_0_259"/>
          <p:cNvSpPr/>
          <p:nvPr/>
        </p:nvSpPr>
        <p:spPr>
          <a:xfrm>
            <a:off x="4114800" y="3310128"/>
            <a:ext cx="1280100" cy="3657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82c5a52a9_0_259"/>
          <p:cNvSpPr txBox="1"/>
          <p:nvPr/>
        </p:nvSpPr>
        <p:spPr>
          <a:xfrm>
            <a:off x="4114800" y="3310128"/>
            <a:ext cx="1280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3" name="Google Shape;453;g3e82c5a52a9_0_259"/>
          <p:cNvSpPr/>
          <p:nvPr/>
        </p:nvSpPr>
        <p:spPr>
          <a:xfrm>
            <a:off x="5394960" y="3310128"/>
            <a:ext cx="1737300" cy="365700"/>
          </a:xfrm>
          <a:prstGeom prst="rect">
            <a:avLst/>
          </a:prstGeom>
          <a:solidFill>
            <a:srgbClr val="F8CBCB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82c5a52a9_0_259"/>
          <p:cNvSpPr txBox="1"/>
          <p:nvPr/>
        </p:nvSpPr>
        <p:spPr>
          <a:xfrm>
            <a:off x="5394960" y="3310128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  <p:sp>
        <p:nvSpPr>
          <p:cNvPr id="455" name="Google Shape;455;g3e82c5a52a9_0_259"/>
          <p:cNvSpPr/>
          <p:nvPr/>
        </p:nvSpPr>
        <p:spPr>
          <a:xfrm>
            <a:off x="365760" y="3767328"/>
            <a:ext cx="6766500" cy="274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82c5a52a9_0_259"/>
          <p:cNvSpPr txBox="1"/>
          <p:nvPr/>
        </p:nvSpPr>
        <p:spPr>
          <a:xfrm>
            <a:off x="365760" y="3767328"/>
            <a:ext cx="67665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Packets dropped (log, bars)  +  UL Mbps (line)</a:t>
            </a:r>
            <a:endParaRPr/>
          </a:p>
        </p:txBody>
      </p:sp>
      <p:sp>
        <p:nvSpPr>
          <p:cNvPr id="457" name="Google Shape;457;g3e82c5a52a9_0_259"/>
          <p:cNvSpPr/>
          <p:nvPr/>
        </p:nvSpPr>
        <p:spPr>
          <a:xfrm>
            <a:off x="457200" y="5788152"/>
            <a:ext cx="6400800" cy="183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82c5a52a9_0_259"/>
          <p:cNvSpPr/>
          <p:nvPr/>
        </p:nvSpPr>
        <p:spPr>
          <a:xfrm>
            <a:off x="740664" y="5769864"/>
            <a:ext cx="713100" cy="183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e82c5a52a9_0_259"/>
          <p:cNvSpPr txBox="1"/>
          <p:nvPr/>
        </p:nvSpPr>
        <p:spPr>
          <a:xfrm>
            <a:off x="603504" y="5568696"/>
            <a:ext cx="987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60" name="Google Shape;460;g3e82c5a52a9_0_259"/>
          <p:cNvSpPr txBox="1"/>
          <p:nvPr/>
        </p:nvSpPr>
        <p:spPr>
          <a:xfrm>
            <a:off x="457200" y="5815584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250µs</a:t>
            </a:r>
            <a:endParaRPr/>
          </a:p>
        </p:txBody>
      </p:sp>
      <p:sp>
        <p:nvSpPr>
          <p:cNvPr id="461" name="Google Shape;461;g3e82c5a52a9_0_259"/>
          <p:cNvSpPr/>
          <p:nvPr/>
        </p:nvSpPr>
        <p:spPr>
          <a:xfrm>
            <a:off x="2020824" y="5617489"/>
            <a:ext cx="713100" cy="1707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82c5a52a9_0_259"/>
          <p:cNvSpPr txBox="1"/>
          <p:nvPr/>
        </p:nvSpPr>
        <p:spPr>
          <a:xfrm>
            <a:off x="1883664" y="5416321"/>
            <a:ext cx="987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~8</a:t>
            </a:r>
            <a:endParaRPr/>
          </a:p>
        </p:txBody>
      </p:sp>
      <p:sp>
        <p:nvSpPr>
          <p:cNvPr id="463" name="Google Shape;463;g3e82c5a52a9_0_259"/>
          <p:cNvSpPr txBox="1"/>
          <p:nvPr/>
        </p:nvSpPr>
        <p:spPr>
          <a:xfrm>
            <a:off x="1737360" y="5815584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350µs</a:t>
            </a:r>
            <a:endParaRPr/>
          </a:p>
        </p:txBody>
      </p:sp>
      <p:sp>
        <p:nvSpPr>
          <p:cNvPr id="464" name="Google Shape;464;g3e82c5a52a9_0_259"/>
          <p:cNvSpPr/>
          <p:nvPr/>
        </p:nvSpPr>
        <p:spPr>
          <a:xfrm>
            <a:off x="3300984" y="5395236"/>
            <a:ext cx="713100" cy="393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82c5a52a9_0_259"/>
          <p:cNvSpPr txBox="1"/>
          <p:nvPr/>
        </p:nvSpPr>
        <p:spPr>
          <a:xfrm>
            <a:off x="3163824" y="5194068"/>
            <a:ext cx="987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~120</a:t>
            </a:r>
            <a:endParaRPr/>
          </a:p>
        </p:txBody>
      </p:sp>
      <p:sp>
        <p:nvSpPr>
          <p:cNvPr id="466" name="Google Shape;466;g3e82c5a52a9_0_259"/>
          <p:cNvSpPr txBox="1"/>
          <p:nvPr/>
        </p:nvSpPr>
        <p:spPr>
          <a:xfrm>
            <a:off x="3017520" y="5815584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400µs</a:t>
            </a:r>
            <a:endParaRPr/>
          </a:p>
        </p:txBody>
      </p:sp>
      <p:sp>
        <p:nvSpPr>
          <p:cNvPr id="467" name="Google Shape;467;g3e82c5a52a9_0_259"/>
          <p:cNvSpPr/>
          <p:nvPr/>
        </p:nvSpPr>
        <p:spPr>
          <a:xfrm>
            <a:off x="4581144" y="4821739"/>
            <a:ext cx="713100" cy="966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e82c5a52a9_0_259"/>
          <p:cNvSpPr txBox="1"/>
          <p:nvPr/>
        </p:nvSpPr>
        <p:spPr>
          <a:xfrm>
            <a:off x="4443984" y="4620571"/>
            <a:ext cx="987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~130k</a:t>
            </a:r>
            <a:endParaRPr/>
          </a:p>
        </p:txBody>
      </p:sp>
      <p:sp>
        <p:nvSpPr>
          <p:cNvPr id="469" name="Google Shape;469;g3e82c5a52a9_0_259"/>
          <p:cNvSpPr txBox="1"/>
          <p:nvPr/>
        </p:nvSpPr>
        <p:spPr>
          <a:xfrm>
            <a:off x="4297680" y="5815584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450µs</a:t>
            </a:r>
            <a:endParaRPr/>
          </a:p>
        </p:txBody>
      </p:sp>
      <p:sp>
        <p:nvSpPr>
          <p:cNvPr id="470" name="Google Shape;470;g3e82c5a52a9_0_259"/>
          <p:cNvSpPr/>
          <p:nvPr/>
        </p:nvSpPr>
        <p:spPr>
          <a:xfrm>
            <a:off x="5861304" y="4654296"/>
            <a:ext cx="713100" cy="113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e82c5a52a9_0_259"/>
          <p:cNvSpPr txBox="1"/>
          <p:nvPr/>
        </p:nvSpPr>
        <p:spPr>
          <a:xfrm>
            <a:off x="5724144" y="4453128"/>
            <a:ext cx="987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crash</a:t>
            </a:r>
            <a:endParaRPr/>
          </a:p>
        </p:txBody>
      </p:sp>
      <p:sp>
        <p:nvSpPr>
          <p:cNvPr id="472" name="Google Shape;472;g3e82c5a52a9_0_259"/>
          <p:cNvSpPr txBox="1"/>
          <p:nvPr/>
        </p:nvSpPr>
        <p:spPr>
          <a:xfrm>
            <a:off x="5577840" y="5815584"/>
            <a:ext cx="12801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600µs</a:t>
            </a:r>
            <a:endParaRPr/>
          </a:p>
        </p:txBody>
      </p:sp>
      <p:cxnSp>
        <p:nvCxnSpPr>
          <p:cNvPr id="473" name="Google Shape;473;g3e82c5a52a9_0_259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F396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g3e82c5a52a9_0_259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F396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g3e82c5a52a9_0_259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F396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g3e82c5a52a9_0_259"/>
          <p:cNvCxnSpPr/>
          <p:nvPr/>
        </p:nvCxnSpPr>
        <p:spPr>
          <a:xfrm>
            <a:off x="0" y="0"/>
            <a:ext cx="6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1F39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g3e82c5a52a9_0_259"/>
          <p:cNvSpPr/>
          <p:nvPr/>
        </p:nvSpPr>
        <p:spPr>
          <a:xfrm>
            <a:off x="1051560" y="4561332"/>
            <a:ext cx="91500" cy="915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82c5a52a9_0_259"/>
          <p:cNvSpPr/>
          <p:nvPr/>
        </p:nvSpPr>
        <p:spPr>
          <a:xfrm>
            <a:off x="2331720" y="4632198"/>
            <a:ext cx="91500" cy="915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e82c5a52a9_0_259"/>
          <p:cNvSpPr/>
          <p:nvPr/>
        </p:nvSpPr>
        <p:spPr>
          <a:xfrm>
            <a:off x="3611880" y="4797552"/>
            <a:ext cx="91500" cy="915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e82c5a52a9_0_259"/>
          <p:cNvSpPr/>
          <p:nvPr/>
        </p:nvSpPr>
        <p:spPr>
          <a:xfrm>
            <a:off x="4892040" y="5151882"/>
            <a:ext cx="91500" cy="915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82c5a52a9_0_259"/>
          <p:cNvSpPr/>
          <p:nvPr/>
        </p:nvSpPr>
        <p:spPr>
          <a:xfrm>
            <a:off x="6172200" y="5742432"/>
            <a:ext cx="91500" cy="915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e82c5a52a9_0_259"/>
          <p:cNvSpPr/>
          <p:nvPr/>
        </p:nvSpPr>
        <p:spPr>
          <a:xfrm>
            <a:off x="7406640" y="1481328"/>
            <a:ext cx="4389000" cy="18744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e82c5a52a9_0_259"/>
          <p:cNvSpPr txBox="1"/>
          <p:nvPr/>
        </p:nvSpPr>
        <p:spPr>
          <a:xfrm>
            <a:off x="7498080" y="1527048"/>
            <a:ext cx="42063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There is a sharp 'knee' in the fronthaul timing budget: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the link is clean down to ~350 µs, then collapses between 400–450 µs (dropped packets jump ×1000, UL halves), and fails below the budget.</a:t>
            </a:r>
            <a:endParaRPr/>
          </a:p>
        </p:txBody>
      </p:sp>
      <p:sp>
        <p:nvSpPr>
          <p:cNvPr id="484" name="Google Shape;484;g3e82c5a52a9_0_259"/>
          <p:cNvSpPr/>
          <p:nvPr/>
        </p:nvSpPr>
        <p:spPr>
          <a:xfrm>
            <a:off x="7406640" y="3520440"/>
            <a:ext cx="4389000" cy="12801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e82c5a52a9_0_259"/>
          <p:cNvSpPr txBox="1"/>
          <p:nvPr/>
        </p:nvSpPr>
        <p:spPr>
          <a:xfrm>
            <a:off x="7498080" y="3566160"/>
            <a:ext cx="42063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This is exactly the kind of timing-margin test you want before deploying on a real fronthaul link with finite latency.</a:t>
            </a:r>
            <a:endParaRPr/>
          </a:p>
        </p:txBody>
      </p:sp>
      <p:sp>
        <p:nvSpPr>
          <p:cNvPr id="486" name="Google Shape;486;g3e82c5a52a9_0_259"/>
          <p:cNvSpPr txBox="1"/>
          <p:nvPr/>
        </p:nvSpPr>
        <p:spPr>
          <a:xfrm>
            <a:off x="566928" y="4389120"/>
            <a:ext cx="5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7.0</a:t>
            </a:r>
            <a:endParaRPr/>
          </a:p>
        </p:txBody>
      </p:sp>
      <p:sp>
        <p:nvSpPr>
          <p:cNvPr id="487" name="Google Shape;487;g3e82c5a52a9_0_259"/>
          <p:cNvSpPr txBox="1"/>
          <p:nvPr/>
        </p:nvSpPr>
        <p:spPr>
          <a:xfrm>
            <a:off x="1847088" y="4462272"/>
            <a:ext cx="5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6.6</a:t>
            </a:r>
            <a:endParaRPr/>
          </a:p>
        </p:txBody>
      </p:sp>
      <p:sp>
        <p:nvSpPr>
          <p:cNvPr id="488" name="Google Shape;488;g3e82c5a52a9_0_259"/>
          <p:cNvSpPr txBox="1"/>
          <p:nvPr/>
        </p:nvSpPr>
        <p:spPr>
          <a:xfrm>
            <a:off x="3127248" y="4626864"/>
            <a:ext cx="5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5.6</a:t>
            </a:r>
            <a:endParaRPr/>
          </a:p>
        </p:txBody>
      </p:sp>
      <p:sp>
        <p:nvSpPr>
          <p:cNvPr id="489" name="Google Shape;489;g3e82c5a52a9_0_259"/>
          <p:cNvSpPr txBox="1"/>
          <p:nvPr/>
        </p:nvSpPr>
        <p:spPr>
          <a:xfrm>
            <a:off x="4407408" y="4974336"/>
            <a:ext cx="5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3.5</a:t>
            </a:r>
            <a:endParaRPr/>
          </a:p>
        </p:txBody>
      </p:sp>
      <p:sp>
        <p:nvSpPr>
          <p:cNvPr id="490" name="Google Shape;490;g3e82c5a52a9_0_259"/>
          <p:cNvSpPr txBox="1"/>
          <p:nvPr/>
        </p:nvSpPr>
        <p:spPr>
          <a:xfrm>
            <a:off x="5760720" y="5577840"/>
            <a:ext cx="5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91" name="Google Shape;491;g3e82c5a52a9_0_259"/>
          <p:cNvSpPr txBox="1"/>
          <p:nvPr/>
        </p:nvSpPr>
        <p:spPr>
          <a:xfrm>
            <a:off x="457200" y="4114800"/>
            <a:ext cx="384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78644"/>
                </a:solidFill>
                <a:latin typeface="Calibri"/>
                <a:ea typeface="Calibri"/>
                <a:cs typeface="Calibri"/>
                <a:sym typeface="Calibri"/>
              </a:rPr>
              <a:t>● UL throughput (Mbps) — baseline ~7.0, collapses as the FH window tightens</a:t>
            </a:r>
            <a:endParaRPr/>
          </a:p>
        </p:txBody>
      </p:sp>
      <p:sp>
        <p:nvSpPr>
          <p:cNvPr id="492" name="Google Shape;492;g3e82c5a52a9_0_259"/>
          <p:cNvSpPr/>
          <p:nvPr/>
        </p:nvSpPr>
        <p:spPr>
          <a:xfrm>
            <a:off x="7406640" y="4937760"/>
            <a:ext cx="4389000" cy="1463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E0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0800" lIns="101600" spcFirstLastPara="1" rIns="101600" wrap="square" tIns="6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WHY THROUGHPUT DROPS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A UL packet that misses the FH deadline is dropped → NACK → HARQ retransmit. The gNB's outer-loop link adaptation also reads these FH-late drops as radio errors and backs off MCS — so throughput collapses far faster than the raw drop-rate (≈5% late → UL roughly halves).</a:t>
            </a:r>
            <a:endParaRPr/>
          </a:p>
        </p:txBody>
      </p:sp>
      <p:sp>
        <p:nvSpPr>
          <p:cNvPr id="493" name="T2aNote"/>
          <p:cNvSpPr txBox="1"/>
          <p:nvPr/>
        </p:nvSpPr>
        <p:spPr>
          <a:xfrm>
            <a:off x="365760" y="6144768"/>
            <a:ext cx="69037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BDD7EE"/>
            </a:solidFill>
          </a:ln>
        </p:spPr>
        <p:txBody>
          <a:bodyPr wrap="square" anchor="ctr" tIns="25400" bIns="25400" lIns="88900" rIns="88900">
            <a:spAutoFit/>
          </a:bodyPr>
          <a:lstStyle/>
          <a:p>
            <a:pPr algn="l"/>
            <a:r>
              <a:rPr sz="1000" b="1">
                <a:solidFill>
                  <a:srgbClr val="1F3964"/>
                </a:solidFill>
                <a:latin typeface="Calibri"/>
              </a:rPr>
              <a:t>FH window = O-RAN T2a (T2a_min_up):  </a:t>
            </a:r>
            <a:r>
              <a:rPr sz="1000" b="0">
                <a:solidFill>
                  <a:srgbClr val="202020"/>
                </a:solidFill>
                <a:latin typeface="Calibri"/>
              </a:rPr>
              <a:t>latest a DL U-plane IQ packet may reach the O-RU before its on-air time (Fig 4.4.1-1, R2→Ra). Tightening it ≡ adding real fronthaul transport delay — on-air lead here ≈ 430 µs, so the knee lands at 400–450 µs.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7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5 — Mobility / Time-Varying Channel</a:t>
            </a:r>
            <a:endParaRPr/>
          </a:p>
        </p:txBody>
      </p:sp>
      <p:sp>
        <p:nvSpPr>
          <p:cNvPr id="499" name="Google Shape;499;p7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Sweep a time-varying fading channel at 3 / 60 / 120 km/h-equivalent</a:t>
            </a:r>
            <a:endParaRPr/>
          </a:p>
        </p:txBody>
      </p:sp>
      <p:sp>
        <p:nvSpPr>
          <p:cNvPr id="500" name="Google Shape;500;p7"/>
          <p:cNvSpPr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7"/>
          <p:cNvSpPr txBox="1"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Measured (2×2, iq9, fading channel)  ·  SNR = time-domain (real channel) SNR</a:t>
            </a:r>
            <a:endParaRPr/>
          </a:p>
        </p:txBody>
      </p:sp>
      <p:sp>
        <p:nvSpPr>
          <p:cNvPr id="502" name="Google Shape;502;p7"/>
          <p:cNvSpPr/>
          <p:nvPr/>
        </p:nvSpPr>
        <p:spPr>
          <a:xfrm>
            <a:off x="365760" y="1463040"/>
            <a:ext cx="2011680" cy="402336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7"/>
          <p:cNvSpPr txBox="1"/>
          <p:nvPr/>
        </p:nvSpPr>
        <p:spPr>
          <a:xfrm>
            <a:off x="365760" y="146304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</p:txBody>
      </p:sp>
      <p:sp>
        <p:nvSpPr>
          <p:cNvPr id="504" name="Google Shape;504;p7"/>
          <p:cNvSpPr/>
          <p:nvPr/>
        </p:nvSpPr>
        <p:spPr>
          <a:xfrm>
            <a:off x="2377440" y="1463040"/>
            <a:ext cx="2011680" cy="402336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7"/>
          <p:cNvSpPr txBox="1"/>
          <p:nvPr/>
        </p:nvSpPr>
        <p:spPr>
          <a:xfrm>
            <a:off x="2377440" y="1463040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RX</a:t>
            </a: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SNR dB</a:t>
            </a:r>
            <a:endParaRPr/>
          </a:p>
        </p:txBody>
      </p:sp>
      <p:sp>
        <p:nvSpPr>
          <p:cNvPr id="506" name="Google Shape;506;p7"/>
          <p:cNvSpPr/>
          <p:nvPr/>
        </p:nvSpPr>
        <p:spPr>
          <a:xfrm>
            <a:off x="4389120" y="1463040"/>
            <a:ext cx="2743200" cy="402336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7"/>
          <p:cNvSpPr txBox="1"/>
          <p:nvPr/>
        </p:nvSpPr>
        <p:spPr>
          <a:xfrm>
            <a:off x="4389120" y="14630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 Mbps</a:t>
            </a:r>
            <a:endParaRPr/>
          </a:p>
        </p:txBody>
      </p:sp>
      <p:sp>
        <p:nvSpPr>
          <p:cNvPr id="508" name="Google Shape;508;p7"/>
          <p:cNvSpPr/>
          <p:nvPr/>
        </p:nvSpPr>
        <p:spPr>
          <a:xfrm>
            <a:off x="7132320" y="1463040"/>
            <a:ext cx="4663440" cy="402336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7"/>
          <p:cNvSpPr txBox="1"/>
          <p:nvPr/>
        </p:nvSpPr>
        <p:spPr>
          <a:xfrm>
            <a:off x="7132320" y="1463040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510" name="Google Shape;510;p7"/>
          <p:cNvSpPr/>
          <p:nvPr/>
        </p:nvSpPr>
        <p:spPr>
          <a:xfrm>
            <a:off x="365760" y="1865376"/>
            <a:ext cx="201168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7"/>
          <p:cNvSpPr txBox="1"/>
          <p:nvPr/>
        </p:nvSpPr>
        <p:spPr>
          <a:xfrm>
            <a:off x="365760" y="1865376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 km/h</a:t>
            </a:r>
            <a:endParaRPr/>
          </a:p>
        </p:txBody>
      </p:sp>
      <p:sp>
        <p:nvSpPr>
          <p:cNvPr id="512" name="Google Shape;512;p7"/>
          <p:cNvSpPr/>
          <p:nvPr/>
        </p:nvSpPr>
        <p:spPr>
          <a:xfrm>
            <a:off x="2377440" y="1865376"/>
            <a:ext cx="201168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7"/>
          <p:cNvSpPr txBox="1"/>
          <p:nvPr/>
        </p:nvSpPr>
        <p:spPr>
          <a:xfrm>
            <a:off x="2377440" y="1865376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~16</a:t>
            </a:r>
            <a:endParaRPr/>
          </a:p>
        </p:txBody>
      </p:sp>
      <p:sp>
        <p:nvSpPr>
          <p:cNvPr id="514" name="Google Shape;514;p7"/>
          <p:cNvSpPr/>
          <p:nvPr/>
        </p:nvSpPr>
        <p:spPr>
          <a:xfrm>
            <a:off x="4389120" y="1865376"/>
            <a:ext cx="274320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"/>
          <p:cNvSpPr txBox="1"/>
          <p:nvPr/>
        </p:nvSpPr>
        <p:spPr>
          <a:xfrm>
            <a:off x="4389120" y="1865376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3.74</a:t>
            </a:r>
            <a:endParaRPr/>
          </a:p>
        </p:txBody>
      </p:sp>
      <p:sp>
        <p:nvSpPr>
          <p:cNvPr id="516" name="Google Shape;516;p7"/>
          <p:cNvSpPr/>
          <p:nvPr/>
        </p:nvSpPr>
        <p:spPr>
          <a:xfrm>
            <a:off x="7132320" y="1865376"/>
            <a:ext cx="466344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 txBox="1"/>
          <p:nvPr/>
        </p:nvSpPr>
        <p:spPr>
          <a:xfrm>
            <a:off x="7132320" y="1865376"/>
            <a:ext cx="4663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/>
          </a:p>
        </p:txBody>
      </p:sp>
      <p:sp>
        <p:nvSpPr>
          <p:cNvPr id="518" name="Google Shape;518;p7"/>
          <p:cNvSpPr/>
          <p:nvPr/>
        </p:nvSpPr>
        <p:spPr>
          <a:xfrm>
            <a:off x="365760" y="2267712"/>
            <a:ext cx="201168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7"/>
          <p:cNvSpPr txBox="1"/>
          <p:nvPr/>
        </p:nvSpPr>
        <p:spPr>
          <a:xfrm>
            <a:off x="365760" y="22677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3 km/h</a:t>
            </a:r>
            <a:endParaRPr/>
          </a:p>
        </p:txBody>
      </p:sp>
      <p:sp>
        <p:nvSpPr>
          <p:cNvPr id="520" name="Google Shape;520;p7"/>
          <p:cNvSpPr/>
          <p:nvPr/>
        </p:nvSpPr>
        <p:spPr>
          <a:xfrm>
            <a:off x="2377440" y="2267712"/>
            <a:ext cx="201168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7"/>
          <p:cNvSpPr txBox="1"/>
          <p:nvPr/>
        </p:nvSpPr>
        <p:spPr>
          <a:xfrm>
            <a:off x="2377440" y="226771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~22–29</a:t>
            </a:r>
            <a:endParaRPr/>
          </a:p>
        </p:txBody>
      </p:sp>
      <p:sp>
        <p:nvSpPr>
          <p:cNvPr id="522" name="Google Shape;522;p7"/>
          <p:cNvSpPr/>
          <p:nvPr/>
        </p:nvSpPr>
        <p:spPr>
          <a:xfrm>
            <a:off x="4389120" y="2267712"/>
            <a:ext cx="274320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"/>
          <p:cNvSpPr txBox="1"/>
          <p:nvPr/>
        </p:nvSpPr>
        <p:spPr>
          <a:xfrm>
            <a:off x="4389120" y="226771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~6.97</a:t>
            </a:r>
            <a:endParaRPr/>
          </a:p>
        </p:txBody>
      </p:sp>
      <p:sp>
        <p:nvSpPr>
          <p:cNvPr id="524" name="Google Shape;524;p7"/>
          <p:cNvSpPr/>
          <p:nvPr/>
        </p:nvSpPr>
        <p:spPr>
          <a:xfrm>
            <a:off x="7132320" y="2267712"/>
            <a:ext cx="466344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7"/>
          <p:cNvSpPr txBox="1"/>
          <p:nvPr/>
        </p:nvSpPr>
        <p:spPr>
          <a:xfrm>
            <a:off x="7132320" y="2267712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/>
          </a:p>
        </p:txBody>
      </p:sp>
      <p:sp>
        <p:nvSpPr>
          <p:cNvPr id="526" name="Google Shape;526;p7"/>
          <p:cNvSpPr/>
          <p:nvPr/>
        </p:nvSpPr>
        <p:spPr>
          <a:xfrm>
            <a:off x="365760" y="2670048"/>
            <a:ext cx="201168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7"/>
          <p:cNvSpPr txBox="1"/>
          <p:nvPr/>
        </p:nvSpPr>
        <p:spPr>
          <a:xfrm>
            <a:off x="365760" y="267004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60 km/h</a:t>
            </a:r>
            <a:endParaRPr/>
          </a:p>
        </p:txBody>
      </p:sp>
      <p:sp>
        <p:nvSpPr>
          <p:cNvPr id="528" name="Google Shape;528;p7"/>
          <p:cNvSpPr/>
          <p:nvPr/>
        </p:nvSpPr>
        <p:spPr>
          <a:xfrm>
            <a:off x="2377440" y="2670048"/>
            <a:ext cx="201168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7"/>
          <p:cNvSpPr txBox="1"/>
          <p:nvPr/>
        </p:nvSpPr>
        <p:spPr>
          <a:xfrm>
            <a:off x="2377440" y="267004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~21–27</a:t>
            </a:r>
            <a:endParaRPr/>
          </a:p>
        </p:txBody>
      </p:sp>
      <p:sp>
        <p:nvSpPr>
          <p:cNvPr id="530" name="Google Shape;530;p7"/>
          <p:cNvSpPr/>
          <p:nvPr/>
        </p:nvSpPr>
        <p:spPr>
          <a:xfrm>
            <a:off x="4389120" y="2670048"/>
            <a:ext cx="274320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7"/>
          <p:cNvSpPr txBox="1"/>
          <p:nvPr/>
        </p:nvSpPr>
        <p:spPr>
          <a:xfrm>
            <a:off x="4389120" y="267004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6.2 – 7.0</a:t>
            </a:r>
            <a:endParaRPr/>
          </a:p>
        </p:txBody>
      </p:sp>
      <p:sp>
        <p:nvSpPr>
          <p:cNvPr id="532" name="Google Shape;532;p7"/>
          <p:cNvSpPr/>
          <p:nvPr/>
        </p:nvSpPr>
        <p:spPr>
          <a:xfrm>
            <a:off x="7132320" y="2670048"/>
            <a:ext cx="4663440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7"/>
          <p:cNvSpPr txBox="1"/>
          <p:nvPr/>
        </p:nvSpPr>
        <p:spPr>
          <a:xfrm>
            <a:off x="7132320" y="2670048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365760" y="3072384"/>
            <a:ext cx="201168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"/>
          <p:cNvSpPr txBox="1"/>
          <p:nvPr/>
        </p:nvSpPr>
        <p:spPr>
          <a:xfrm>
            <a:off x="365760" y="307238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120 km/h</a:t>
            </a:r>
            <a:endParaRPr/>
          </a:p>
        </p:txBody>
      </p:sp>
      <p:sp>
        <p:nvSpPr>
          <p:cNvPr id="536" name="Google Shape;536;p7"/>
          <p:cNvSpPr/>
          <p:nvPr/>
        </p:nvSpPr>
        <p:spPr>
          <a:xfrm>
            <a:off x="2377440" y="3072384"/>
            <a:ext cx="2011680" cy="402336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7"/>
          <p:cNvSpPr txBox="1"/>
          <p:nvPr/>
        </p:nvSpPr>
        <p:spPr>
          <a:xfrm>
            <a:off x="2377440" y="307238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4389120" y="3072384"/>
            <a:ext cx="2743200" cy="402336"/>
          </a:xfrm>
          <a:prstGeom prst="rect">
            <a:avLst/>
          </a:prstGeom>
          <a:solidFill>
            <a:srgbClr val="F8CBCB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"/>
          <p:cNvSpPr txBox="1"/>
          <p:nvPr/>
        </p:nvSpPr>
        <p:spPr>
          <a:xfrm>
            <a:off x="4389120" y="3072384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7132320" y="3072384"/>
            <a:ext cx="4663440" cy="402336"/>
          </a:xfrm>
          <a:prstGeom prst="rect">
            <a:avLst/>
          </a:prstGeom>
          <a:solidFill>
            <a:srgbClr val="F8CBCB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7"/>
          <p:cNvSpPr txBox="1"/>
          <p:nvPr/>
        </p:nvSpPr>
        <p:spPr>
          <a:xfrm>
            <a:off x="7132320" y="3072384"/>
            <a:ext cx="4663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FAIL — DL sync cannot lock</a:t>
            </a: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365760" y="3749039"/>
            <a:ext cx="11430000" cy="77724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3786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"/>
          <p:cNvSpPr txBox="1"/>
          <p:nvPr/>
        </p:nvSpPr>
        <p:spPr>
          <a:xfrm>
            <a:off x="457200" y="3794759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FINDING:  at good SNR the link is robust to mobility — UL stays ~7 Mbps up to 60 km/h-equivalent. At 120 km/h the very fast fading prevents the UE from locking onto the downlink.</a:t>
            </a:r>
            <a:endParaRPr/>
          </a:p>
        </p:txBody>
      </p:sp>
      <p:sp>
        <p:nvSpPr>
          <p:cNvPr id="544" name="Google Shape;544;p7"/>
          <p:cNvSpPr/>
          <p:nvPr/>
        </p:nvSpPr>
        <p:spPr>
          <a:xfrm>
            <a:off x="365760" y="4617720"/>
            <a:ext cx="11430000" cy="71323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7"/>
          <p:cNvSpPr txBox="1"/>
          <p:nvPr/>
        </p:nvSpPr>
        <p:spPr>
          <a:xfrm>
            <a:off x="457200" y="466344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Scope note:  the demo models mobility as a channel time-variation factor, not a true Doppler shift, so this evaluates link robustness to fast fading rather than precise velocity effects.</a:t>
            </a: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365760" y="5422392"/>
            <a:ext cx="11430000" cy="713232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7"/>
          <p:cNvSpPr txBox="1"/>
          <p:nvPr/>
        </p:nvSpPr>
        <p:spPr>
          <a:xfrm>
            <a:off x="457200" y="5468112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1F3964"/>
                </a:solidFill>
                <a:latin typeface="Calibri"/>
                <a:ea typeface="Calibri"/>
                <a:cs typeface="Calibri"/>
                <a:sym typeface="Calibri"/>
              </a:rPr>
              <a:t>Also: uplink channel estimation is per-slot, so uplink data is largely insensitive to channel aging — the mobility effect shows up mainly in initial downlink synchronisation.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82c5a52a9_0_144"/>
          <p:cNvSpPr/>
          <p:nvPr/>
        </p:nvSpPr>
        <p:spPr>
          <a:xfrm>
            <a:off x="0" y="0"/>
            <a:ext cx="12191700" cy="10059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e82c5a52a9_0_144"/>
          <p:cNvSpPr txBox="1"/>
          <p:nvPr/>
        </p:nvSpPr>
        <p:spPr>
          <a:xfrm>
            <a:off x="320040" y="91440"/>
            <a:ext cx="115215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Demo Evaluates — Key Findings</a:t>
            </a:r>
            <a:endParaRPr/>
          </a:p>
        </p:txBody>
      </p:sp>
      <p:sp>
        <p:nvSpPr>
          <p:cNvPr id="554" name="Google Shape;554;g3e82c5a52a9_0_144"/>
          <p:cNvSpPr txBox="1"/>
          <p:nvPr/>
        </p:nvSpPr>
        <p:spPr>
          <a:xfrm>
            <a:off x="320040" y="658368"/>
            <a:ext cx="115215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BDD7EE"/>
                </a:solidFill>
                <a:latin typeface="Calibri"/>
                <a:ea typeface="Calibri"/>
                <a:cs typeface="Calibri"/>
                <a:sym typeface="Calibri"/>
              </a:rPr>
              <a:t>One host = a full end-to-end 5G system (UE · O-RU · real O-RAN 7.2 fronthaul · O-DU · 5G core) — every number below measured on a live link</a:t>
            </a:r>
            <a:endParaRPr/>
          </a:p>
        </p:txBody>
      </p:sp>
      <p:sp>
        <p:nvSpPr>
          <p:cNvPr id="555" name="Google Shape;555;g3e82c5a52a9_0_144"/>
          <p:cNvSpPr/>
          <p:nvPr/>
        </p:nvSpPr>
        <p:spPr>
          <a:xfrm>
            <a:off x="365760" y="1234440"/>
            <a:ext cx="4389000" cy="4572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e82c5a52a9_0_144"/>
          <p:cNvSpPr txBox="1"/>
          <p:nvPr/>
        </p:nvSpPr>
        <p:spPr>
          <a:xfrm>
            <a:off x="365760" y="1234440"/>
            <a:ext cx="4389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/>
          </a:p>
        </p:txBody>
      </p:sp>
      <p:sp>
        <p:nvSpPr>
          <p:cNvPr id="557" name="Google Shape;557;g3e82c5a52a9_0_144"/>
          <p:cNvSpPr/>
          <p:nvPr/>
        </p:nvSpPr>
        <p:spPr>
          <a:xfrm>
            <a:off x="4754880" y="1234440"/>
            <a:ext cx="7041000" cy="4572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e82c5a52a9_0_144"/>
          <p:cNvSpPr txBox="1"/>
          <p:nvPr/>
        </p:nvSpPr>
        <p:spPr>
          <a:xfrm>
            <a:off x="4754880" y="1234440"/>
            <a:ext cx="7041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559" name="Google Shape;559;g3e82c5a52a9_0_144"/>
          <p:cNvSpPr/>
          <p:nvPr/>
        </p:nvSpPr>
        <p:spPr>
          <a:xfrm>
            <a:off x="365760" y="1691640"/>
            <a:ext cx="4389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e82c5a52a9_0_144"/>
          <p:cNvSpPr txBox="1"/>
          <p:nvPr/>
        </p:nvSpPr>
        <p:spPr>
          <a:xfrm>
            <a:off x="365760" y="1691640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Baseline UL (10 MHz, 1×1, iq9)</a:t>
            </a:r>
            <a:endParaRPr/>
          </a:p>
        </p:txBody>
      </p:sp>
      <p:sp>
        <p:nvSpPr>
          <p:cNvPr id="561" name="Google Shape;561;g3e82c5a52a9_0_144"/>
          <p:cNvSpPr/>
          <p:nvPr/>
        </p:nvSpPr>
        <p:spPr>
          <a:xfrm>
            <a:off x="4754880" y="1691640"/>
            <a:ext cx="7041000" cy="3840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e82c5a52a9_0_144"/>
          <p:cNvSpPr txBox="1"/>
          <p:nvPr/>
        </p:nvSpPr>
        <p:spPr>
          <a:xfrm>
            <a:off x="4754880" y="1691640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7.0 Mbps · 0% loss · 1.8 ms jitter</a:t>
            </a:r>
            <a:endParaRPr/>
          </a:p>
        </p:txBody>
      </p:sp>
      <p:sp>
        <p:nvSpPr>
          <p:cNvPr id="563" name="Google Shape;563;g3e82c5a52a9_0_144"/>
          <p:cNvSpPr/>
          <p:nvPr/>
        </p:nvSpPr>
        <p:spPr>
          <a:xfrm>
            <a:off x="365760" y="2075688"/>
            <a:ext cx="4389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e82c5a52a9_0_144"/>
          <p:cNvSpPr txBox="1"/>
          <p:nvPr/>
        </p:nvSpPr>
        <p:spPr>
          <a:xfrm>
            <a:off x="365760" y="2075688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IQ compression iq16 → iq8</a:t>
            </a:r>
            <a:endParaRPr/>
          </a:p>
        </p:txBody>
      </p:sp>
      <p:sp>
        <p:nvSpPr>
          <p:cNvPr id="565" name="Google Shape;565;g3e82c5a52a9_0_144"/>
          <p:cNvSpPr/>
          <p:nvPr/>
        </p:nvSpPr>
        <p:spPr>
          <a:xfrm>
            <a:off x="4754880" y="2075688"/>
            <a:ext cx="7041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e82c5a52a9_0_144"/>
          <p:cNvSpPr txBox="1"/>
          <p:nvPr/>
        </p:nvSpPr>
        <p:spPr>
          <a:xfrm>
            <a:off x="4754880" y="2075688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FH load 254 → 135 Mbps (−47%), UL unchanged</a:t>
            </a:r>
            <a:endParaRPr/>
          </a:p>
        </p:txBody>
      </p:sp>
      <p:sp>
        <p:nvSpPr>
          <p:cNvPr id="567" name="Google Shape;567;g3e82c5a52a9_0_144"/>
          <p:cNvSpPr/>
          <p:nvPr/>
        </p:nvSpPr>
        <p:spPr>
          <a:xfrm>
            <a:off x="365760" y="2459736"/>
            <a:ext cx="4389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e82c5a52a9_0_144"/>
          <p:cNvSpPr txBox="1"/>
          <p:nvPr/>
        </p:nvSpPr>
        <p:spPr>
          <a:xfrm>
            <a:off x="365760" y="2459736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UL vs SNR</a:t>
            </a:r>
            <a:endParaRPr/>
          </a:p>
        </p:txBody>
      </p:sp>
      <p:sp>
        <p:nvSpPr>
          <p:cNvPr id="569" name="Google Shape;569;g3e82c5a52a9_0_144"/>
          <p:cNvSpPr/>
          <p:nvPr/>
        </p:nvSpPr>
        <p:spPr>
          <a:xfrm>
            <a:off x="4754880" y="2459736"/>
            <a:ext cx="7041000" cy="384000"/>
          </a:xfrm>
          <a:prstGeom prst="rect">
            <a:avLst/>
          </a:prstGeom>
          <a:solidFill>
            <a:srgbClr val="E2EFDA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e82c5a52a9_0_144"/>
          <p:cNvSpPr txBox="1"/>
          <p:nvPr/>
        </p:nvSpPr>
        <p:spPr>
          <a:xfrm>
            <a:off x="4754880" y="2459736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20 dB → 7.0 Mbps   /   8 dB → 2.9 Mbps</a:t>
            </a:r>
            <a:endParaRPr/>
          </a:p>
        </p:txBody>
      </p:sp>
      <p:sp>
        <p:nvSpPr>
          <p:cNvPr id="571" name="Google Shape;571;g3e82c5a52a9_0_144"/>
          <p:cNvSpPr/>
          <p:nvPr/>
        </p:nvSpPr>
        <p:spPr>
          <a:xfrm>
            <a:off x="365760" y="2843784"/>
            <a:ext cx="4389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e82c5a52a9_0_144"/>
          <p:cNvSpPr txBox="1"/>
          <p:nvPr/>
        </p:nvSpPr>
        <p:spPr>
          <a:xfrm>
            <a:off x="365760" y="2843784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MIMO FH load 1×1 / 2×2 / 4×4</a:t>
            </a:r>
            <a:endParaRPr/>
          </a:p>
        </p:txBody>
      </p:sp>
      <p:sp>
        <p:nvSpPr>
          <p:cNvPr id="573" name="Google Shape;573;g3e82c5a52a9_0_144"/>
          <p:cNvSpPr/>
          <p:nvPr/>
        </p:nvSpPr>
        <p:spPr>
          <a:xfrm>
            <a:off x="4754880" y="2843784"/>
            <a:ext cx="7041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e82c5a52a9_0_144"/>
          <p:cNvSpPr txBox="1"/>
          <p:nvPr/>
        </p:nvSpPr>
        <p:spPr>
          <a:xfrm>
            <a:off x="4754880" y="2843784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151 / 302 / 1016 Mbps</a:t>
            </a:r>
            <a:endParaRPr/>
          </a:p>
        </p:txBody>
      </p:sp>
      <p:sp>
        <p:nvSpPr>
          <p:cNvPr id="575" name="Google Shape;575;g3e82c5a52a9_0_144"/>
          <p:cNvSpPr/>
          <p:nvPr/>
        </p:nvSpPr>
        <p:spPr>
          <a:xfrm>
            <a:off x="365760" y="3227832"/>
            <a:ext cx="4389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e82c5a52a9_0_144"/>
          <p:cNvSpPr txBox="1"/>
          <p:nvPr/>
        </p:nvSpPr>
        <p:spPr>
          <a:xfrm>
            <a:off x="365760" y="3227832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FH timing knee</a:t>
            </a:r>
            <a:endParaRPr/>
          </a:p>
        </p:txBody>
      </p:sp>
      <p:sp>
        <p:nvSpPr>
          <p:cNvPr id="577" name="Google Shape;577;g3e82c5a52a9_0_144"/>
          <p:cNvSpPr/>
          <p:nvPr/>
        </p:nvSpPr>
        <p:spPr>
          <a:xfrm>
            <a:off x="4754880" y="3227832"/>
            <a:ext cx="7041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e82c5a52a9_0_144"/>
          <p:cNvSpPr txBox="1"/>
          <p:nvPr/>
        </p:nvSpPr>
        <p:spPr>
          <a:xfrm>
            <a:off x="4754880" y="3227832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clean ≤350 µs → collapses 400–450 µs</a:t>
            </a:r>
            <a:endParaRPr/>
          </a:p>
        </p:txBody>
      </p:sp>
      <p:sp>
        <p:nvSpPr>
          <p:cNvPr id="579" name="Google Shape;579;g3e82c5a52a9_0_144"/>
          <p:cNvSpPr/>
          <p:nvPr/>
        </p:nvSpPr>
        <p:spPr>
          <a:xfrm>
            <a:off x="365760" y="3611880"/>
            <a:ext cx="4389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e82c5a52a9_0_144"/>
          <p:cNvSpPr txBox="1"/>
          <p:nvPr/>
        </p:nvSpPr>
        <p:spPr>
          <a:xfrm>
            <a:off x="365760" y="3611880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Mobility robustness</a:t>
            </a:r>
            <a:endParaRPr/>
          </a:p>
        </p:txBody>
      </p:sp>
      <p:sp>
        <p:nvSpPr>
          <p:cNvPr id="581" name="Google Shape;581;g3e82c5a52a9_0_144"/>
          <p:cNvSpPr/>
          <p:nvPr/>
        </p:nvSpPr>
        <p:spPr>
          <a:xfrm>
            <a:off x="4754880" y="3611880"/>
            <a:ext cx="7041000" cy="384000"/>
          </a:xfrm>
          <a:prstGeom prst="rect">
            <a:avLst/>
          </a:prstGeom>
          <a:solidFill>
            <a:srgbClr val="BDD7EE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e82c5a52a9_0_144"/>
          <p:cNvSpPr txBox="1"/>
          <p:nvPr/>
        </p:nvSpPr>
        <p:spPr>
          <a:xfrm>
            <a:off x="4754880" y="3611880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stable ≤60 km/h-equiv; fails at 120</a:t>
            </a:r>
            <a:endParaRPr/>
          </a:p>
        </p:txBody>
      </p:sp>
      <p:sp>
        <p:nvSpPr>
          <p:cNvPr id="583" name="Google Shape;583;g3e82c5a52a9_0_144"/>
          <p:cNvSpPr/>
          <p:nvPr/>
        </p:nvSpPr>
        <p:spPr>
          <a:xfrm>
            <a:off x="365760" y="3995928"/>
            <a:ext cx="4389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e82c5a52a9_0_144"/>
          <p:cNvSpPr txBox="1"/>
          <p:nvPr/>
        </p:nvSpPr>
        <p:spPr>
          <a:xfrm>
            <a:off x="365760" y="3995928"/>
            <a:ext cx="4389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Fronthaul link capacity</a:t>
            </a:r>
            <a:endParaRPr/>
          </a:p>
        </p:txBody>
      </p:sp>
      <p:sp>
        <p:nvSpPr>
          <p:cNvPr id="585" name="Google Shape;585;g3e82c5a52a9_0_144"/>
          <p:cNvSpPr/>
          <p:nvPr/>
        </p:nvSpPr>
        <p:spPr>
          <a:xfrm>
            <a:off x="4754880" y="3995928"/>
            <a:ext cx="7041000" cy="384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e82c5a52a9_0_144"/>
          <p:cNvSpPr txBox="1"/>
          <p:nvPr/>
        </p:nvSpPr>
        <p:spPr>
          <a:xfrm>
            <a:off x="4754880" y="3995928"/>
            <a:ext cx="704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6.36 Gbps — demo uses ≤16%</a:t>
            </a:r>
            <a:endParaRPr/>
          </a:p>
        </p:txBody>
      </p:sp>
      <p:sp>
        <p:nvSpPr>
          <p:cNvPr id="587" name="Google Shape;587;g3e82c5a52a9_0_144"/>
          <p:cNvSpPr/>
          <p:nvPr/>
        </p:nvSpPr>
        <p:spPr>
          <a:xfrm>
            <a:off x="365760" y="4526280"/>
            <a:ext cx="11430000" cy="1965900"/>
          </a:xfrm>
          <a:prstGeom prst="rect">
            <a:avLst/>
          </a:prstGeom>
          <a:solidFill>
            <a:srgbClr val="2E75B6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e82c5a52a9_0_144"/>
          <p:cNvSpPr txBox="1"/>
          <p:nvPr/>
        </p:nvSpPr>
        <p:spPr>
          <a:xfrm>
            <a:off x="548640" y="4617720"/>
            <a:ext cx="110643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Bottom line:  this tool runs a FULL end-to-end 5G system on a single host — including a real O-RAN 7.2 DPDK fronthaul — so compression, link quality, MIMO, FH timing, mobility and FH headroom are all evaluated together, on a live link rather than modelled.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